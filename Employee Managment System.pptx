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36" r:id="rId1"/>
  </p:sldMasterIdLst>
  <p:notesMasterIdLst>
    <p:notesMasterId r:id="rId27"/>
  </p:notesMasterIdLst>
  <p:sldIdLst>
    <p:sldId id="256" r:id="rId2"/>
    <p:sldId id="257" r:id="rId3"/>
    <p:sldId id="289" r:id="rId4"/>
    <p:sldId id="260" r:id="rId5"/>
    <p:sldId id="282" r:id="rId6"/>
    <p:sldId id="261" r:id="rId7"/>
    <p:sldId id="271" r:id="rId8"/>
    <p:sldId id="285" r:id="rId9"/>
    <p:sldId id="286" r:id="rId10"/>
    <p:sldId id="287" r:id="rId11"/>
    <p:sldId id="267" r:id="rId12"/>
    <p:sldId id="288" r:id="rId13"/>
    <p:sldId id="269" r:id="rId14"/>
    <p:sldId id="270" r:id="rId15"/>
    <p:sldId id="272" r:id="rId16"/>
    <p:sldId id="273" r:id="rId17"/>
    <p:sldId id="275" r:id="rId18"/>
    <p:sldId id="276" r:id="rId19"/>
    <p:sldId id="277" r:id="rId20"/>
    <p:sldId id="278" r:id="rId21"/>
    <p:sldId id="279" r:id="rId22"/>
    <p:sldId id="280" r:id="rId23"/>
    <p:sldId id="281" r:id="rId24"/>
    <p:sldId id="283" r:id="rId25"/>
    <p:sldId id="259" r:id="rId26"/>
  </p:sldIdLst>
  <p:sldSz cx="12192000" cy="6858000"/>
  <p:notesSz cx="6858000" cy="9144000"/>
  <p:embeddedFontLst>
    <p:embeddedFont>
      <p:font typeface="Lato Black" panose="020F0502020204030203" pitchFamily="34" charset="0"/>
      <p:bold r:id="rId28"/>
      <p:boldItalic r:id="rId29"/>
    </p:embeddedFont>
    <p:embeddedFont>
      <p:font typeface="Libre Baskerville" panose="02000000000000000000" pitchFamily="2" charset="0"/>
      <p:regular r:id="rId30"/>
      <p:bold r:id="rId31"/>
      <p:italic r:id="rId32"/>
      <p:boldItalic r:id="rId3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909" autoAdjust="0"/>
  </p:normalViewPr>
  <p:slideViewPr>
    <p:cSldViewPr snapToGrid="0">
      <p:cViewPr varScale="1">
        <p:scale>
          <a:sx n="97" d="100"/>
          <a:sy n="97" d="100"/>
        </p:scale>
        <p:origin x="10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753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6730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54449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8325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66845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92598376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002884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354811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09356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90069147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82253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470875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marL="0" lvl="0" indent="0" algn="r" rtl="0">
              <a:spcBef>
                <a:spcPts val="0"/>
              </a:spcBef>
              <a:spcAft>
                <a:spcPts val="0"/>
              </a:spcAft>
              <a:buNone/>
            </a:pPr>
            <a:fld id="{00000000-1234-1234-1234-12341234123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0299854"/>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cb-praneetha-0b89b9286/"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github.com/Praneethachittari"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10160"/>
            <a:ext cx="12190815" cy="6694098"/>
          </a:xfrm>
          <a:prstGeom prst="rect">
            <a:avLst/>
          </a:prstGeom>
          <a:noFill/>
          <a:ln>
            <a:noFill/>
          </a:ln>
        </p:spPr>
      </p:pic>
      <p:sp>
        <p:nvSpPr>
          <p:cNvPr id="99" name="Google Shape;99;p1"/>
          <p:cNvSpPr txBox="1"/>
          <p:nvPr/>
        </p:nvSpPr>
        <p:spPr>
          <a:xfrm>
            <a:off x="6668984" y="4855906"/>
            <a:ext cx="7246189"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1800" b="0" i="0" u="none" strike="noStrike" cap="none" dirty="0">
                <a:solidFill>
                  <a:schemeClr val="dk1"/>
                </a:solidFill>
                <a:latin typeface="Calibri"/>
                <a:ea typeface="Calibri"/>
                <a:cs typeface="Calibri"/>
                <a:sym typeface="Calibri"/>
              </a:rPr>
            </a:br>
            <a:r>
              <a:rPr lang="en-IN" sz="1800" b="1" dirty="0">
                <a:solidFill>
                  <a:schemeClr val="dk1"/>
                </a:solidFill>
                <a:latin typeface="Calibri"/>
                <a:ea typeface="Calibri"/>
                <a:cs typeface="Calibri"/>
                <a:sym typeface="Calibri"/>
              </a:rPr>
              <a:t>C. B</a:t>
            </a:r>
            <a:r>
              <a:rPr lang="en-IN" b="1" dirty="0">
                <a:solidFill>
                  <a:schemeClr val="dk1"/>
                </a:solidFill>
                <a:latin typeface="Calibri"/>
                <a:ea typeface="Calibri"/>
                <a:cs typeface="Calibri"/>
                <a:sym typeface="Calibri"/>
              </a:rPr>
              <a:t>. </a:t>
            </a:r>
            <a:r>
              <a:rPr lang="en-IN" sz="1800" b="1" dirty="0">
                <a:solidFill>
                  <a:schemeClr val="dk1"/>
                </a:solidFill>
                <a:latin typeface="Calibri"/>
                <a:ea typeface="Calibri"/>
                <a:cs typeface="Calibri"/>
                <a:sym typeface="Calibri"/>
              </a:rPr>
              <a:t>Praneetha</a:t>
            </a:r>
          </a:p>
          <a:p>
            <a:pPr marL="0" marR="0" lvl="0" indent="0" algn="ctr" rtl="0">
              <a:lnSpc>
                <a:spcPct val="100000"/>
              </a:lnSpc>
              <a:spcBef>
                <a:spcPts val="0"/>
              </a:spcBef>
              <a:spcAft>
                <a:spcPts val="0"/>
              </a:spcAft>
              <a:buClr>
                <a:srgbClr val="000000"/>
              </a:buClr>
              <a:buSzPts val="1800"/>
              <a:buFont typeface="Arial"/>
              <a:buNone/>
            </a:pPr>
            <a:r>
              <a:rPr lang="en-IN" sz="1800" b="1" i="0" u="none" strike="noStrike" cap="none" dirty="0">
                <a:solidFill>
                  <a:schemeClr val="dk1"/>
                </a:solidFill>
                <a:latin typeface="Calibri"/>
                <a:ea typeface="Calibri"/>
                <a:cs typeface="Calibri"/>
                <a:sym typeface="Calibri"/>
              </a:rPr>
              <a:t>Batch Number: 536</a:t>
            </a:r>
            <a:endParaRPr sz="1400" b="1"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597CDBD7-3808-DE05-AE26-66CF139727E1}"/>
              </a:ext>
            </a:extLst>
          </p:cNvPr>
          <p:cNvSpPr txBox="1"/>
          <p:nvPr/>
        </p:nvSpPr>
        <p:spPr>
          <a:xfrm>
            <a:off x="2738350" y="3874254"/>
            <a:ext cx="6629400" cy="646331"/>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a:buNone/>
            </a:pPr>
            <a:r>
              <a:rPr lang="en-IN" sz="3600" b="1" dirty="0">
                <a:solidFill>
                  <a:schemeClr val="dk1"/>
                </a:solidFill>
                <a:latin typeface="Calibri"/>
                <a:ea typeface="Calibri"/>
                <a:cs typeface="Calibri"/>
                <a:sym typeface="Calibri"/>
              </a:rPr>
              <a:t>Employee Management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634116" y="1572550"/>
            <a:ext cx="11253083" cy="4339609"/>
          </a:xfrm>
          <a:prstGeom prst="rect">
            <a:avLst/>
          </a:prstGeom>
          <a:noFill/>
          <a:ln>
            <a:noFill/>
          </a:ln>
        </p:spPr>
        <p:txBody>
          <a:bodyPr spcFirstLastPara="1" wrap="square" lIns="91425" tIns="45700" rIns="91425" bIns="45700" anchor="t" anchorCtr="0">
            <a:spAutoFit/>
          </a:bodyPr>
          <a:lstStyle/>
          <a:p>
            <a:pPr marL="419100" marR="0" lvl="0" indent="-457200" algn="l" rtl="0">
              <a:lnSpc>
                <a:spcPct val="100000"/>
              </a:lnSpc>
              <a:spcBef>
                <a:spcPts val="0"/>
              </a:spcBef>
              <a:spcAft>
                <a:spcPts val="0"/>
              </a:spcAft>
              <a:buClr>
                <a:schemeClr val="dk1"/>
              </a:buClr>
              <a:buSzPts val="2400"/>
              <a:buFont typeface="+mj-lt"/>
              <a:buAutoNum type="arabicPeriod"/>
            </a:pPr>
            <a:r>
              <a:rPr lang="en-IN" b="1" i="0" u="none" strike="noStrike" cap="none" dirty="0">
                <a:solidFill>
                  <a:schemeClr val="dk1"/>
                </a:solidFill>
                <a:latin typeface="Calibri"/>
                <a:ea typeface="Calibri"/>
                <a:cs typeface="Calibri"/>
                <a:sym typeface="Calibri"/>
              </a:rPr>
              <a:t>Background? (B-tech or M-tech): </a:t>
            </a:r>
            <a:r>
              <a:rPr lang="en-US" dirty="0"/>
              <a:t>I am a </a:t>
            </a:r>
            <a:r>
              <a:rPr lang="en-US" b="1" dirty="0"/>
              <a:t>B. Tech graduate in Electrical and Electronics Engineering (EEE)</a:t>
            </a:r>
            <a:r>
              <a:rPr lang="en-US" dirty="0"/>
              <a:t> from G. Pulla Reddy Engineering College. I completed my B. Tech in 2025.</a:t>
            </a:r>
          </a:p>
          <a:p>
            <a:pPr marL="457200" marR="0" lvl="0" indent="-457200" algn="l" rtl="0">
              <a:lnSpc>
                <a:spcPct val="100000"/>
              </a:lnSpc>
              <a:spcBef>
                <a:spcPts val="0"/>
              </a:spcBef>
              <a:spcAft>
                <a:spcPts val="0"/>
              </a:spcAft>
              <a:buClr>
                <a:schemeClr val="dk1"/>
              </a:buClr>
              <a:buSzPts val="2400"/>
              <a:buFont typeface="+mj-lt"/>
              <a:buAutoNum type="arabicPeriod"/>
            </a:pPr>
            <a:endParaRPr lang="en-IN" b="1" i="0" u="none" strike="noStrike" cap="none" dirty="0">
              <a:solidFill>
                <a:schemeClr val="dk1"/>
              </a:solidFill>
              <a:latin typeface="Calibri"/>
              <a:ea typeface="Calibri"/>
              <a:cs typeface="Calibri"/>
              <a:sym typeface="Calibri"/>
            </a:endParaRPr>
          </a:p>
          <a:p>
            <a:pPr marL="419100" lvl="0" indent="-457200">
              <a:buClr>
                <a:schemeClr val="dk1"/>
              </a:buClr>
              <a:buSzPts val="2400"/>
              <a:buFont typeface="+mj-lt"/>
              <a:buAutoNum type="arabicPeriod"/>
            </a:pPr>
            <a:r>
              <a:rPr lang="en-IN" b="1" i="0" u="none" strike="noStrike" cap="none" dirty="0">
                <a:solidFill>
                  <a:schemeClr val="dk1"/>
                </a:solidFill>
                <a:latin typeface="Calibri"/>
                <a:ea typeface="Calibri"/>
                <a:cs typeface="Calibri"/>
                <a:sym typeface="Calibri"/>
              </a:rPr>
              <a:t>Why you want to learn Data Science: </a:t>
            </a:r>
            <a:r>
              <a:rPr lang="en-US" dirty="0"/>
              <a:t>Coming from an EEE background, I wanted to move into the IT and data field. I became interested in </a:t>
            </a:r>
            <a:r>
              <a:rPr lang="en-US" b="1" dirty="0"/>
              <a:t>Data Analytics</a:t>
            </a:r>
            <a:r>
              <a:rPr lang="en-US" dirty="0"/>
              <a:t> because I enjoy working with data, finding patterns, solving problems, and using data to support business decisions. I am currently developing my skills in </a:t>
            </a:r>
            <a:r>
              <a:rPr lang="en-US" b="1" dirty="0"/>
              <a:t>Python, SQL, Excel, Power BI, and Tableau</a:t>
            </a:r>
            <a:r>
              <a:rPr lang="en-US" dirty="0"/>
              <a:t>.</a:t>
            </a:r>
          </a:p>
          <a:p>
            <a:pPr marL="457200" lvl="0" indent="-457200">
              <a:buClr>
                <a:schemeClr val="dk1"/>
              </a:buClr>
              <a:buSzPts val="2400"/>
              <a:buFont typeface="+mj-lt"/>
              <a:buAutoNum type="arabicPeriod"/>
            </a:pPr>
            <a:endParaRPr lang="en-IN" b="1" i="0" u="none" strike="noStrike" cap="none" dirty="0">
              <a:solidFill>
                <a:schemeClr val="dk1"/>
              </a:solidFill>
              <a:latin typeface="Calibri"/>
              <a:ea typeface="Calibri"/>
              <a:cs typeface="Calibri"/>
              <a:sym typeface="Calibri"/>
            </a:endParaRPr>
          </a:p>
          <a:p>
            <a:pPr marL="419100" lvl="0" indent="-457200">
              <a:buClr>
                <a:schemeClr val="dk1"/>
              </a:buClr>
              <a:buSzPts val="2400"/>
              <a:buFont typeface="+mj-lt"/>
              <a:buAutoNum type="arabicPeriod"/>
            </a:pPr>
            <a:r>
              <a:rPr lang="en-IN" b="1" i="0" u="none" strike="noStrike" cap="none" dirty="0">
                <a:solidFill>
                  <a:schemeClr val="dk1"/>
                </a:solidFill>
                <a:latin typeface="Calibri"/>
                <a:ea typeface="Calibri"/>
                <a:cs typeface="Calibri"/>
                <a:sym typeface="Calibri"/>
              </a:rPr>
              <a:t>Work experience: </a:t>
            </a:r>
            <a:r>
              <a:rPr lang="en-US" dirty="0"/>
              <a:t>I am a </a:t>
            </a:r>
            <a:r>
              <a:rPr lang="en-US" b="1" dirty="0"/>
              <a:t>fresher</a:t>
            </a:r>
            <a:r>
              <a:rPr lang="en-US" dirty="0"/>
              <a:t> and do not have professional work experience yet. I have worked on academic and training projects, including </a:t>
            </a:r>
            <a:r>
              <a:rPr lang="en-US" b="1" dirty="0"/>
              <a:t>Customer Churn Analysis using Power BI, an Employee Management System using SQL, and Python projects</a:t>
            </a:r>
          </a:p>
          <a:p>
            <a:pPr marL="457200" lvl="0" indent="-457200">
              <a:buClr>
                <a:schemeClr val="dk1"/>
              </a:buClr>
              <a:buSzPts val="2400"/>
              <a:buFont typeface="+mj-lt"/>
              <a:buAutoNum type="arabicPeriod"/>
            </a:pPr>
            <a:endParaRPr lang="en-IN" b="1" i="0" u="none" strike="noStrike" cap="none" dirty="0">
              <a:solidFill>
                <a:schemeClr val="dk1"/>
              </a:solidFill>
              <a:latin typeface="Calibri"/>
              <a:ea typeface="Calibri"/>
              <a:cs typeface="Calibri"/>
              <a:sym typeface="Calibri"/>
            </a:endParaRPr>
          </a:p>
          <a:p>
            <a:pPr marL="419100" lvl="0" indent="-457200">
              <a:buClr>
                <a:schemeClr val="dk1"/>
              </a:buClr>
              <a:buSzPts val="2400"/>
              <a:buFont typeface="+mj-lt"/>
              <a:buAutoNum type="arabicPeriod"/>
            </a:pPr>
            <a:r>
              <a:rPr lang="en-IN" b="1" dirty="0">
                <a:solidFill>
                  <a:schemeClr val="dk1"/>
                </a:solidFill>
                <a:latin typeface="Calibri"/>
                <a:ea typeface="Calibri"/>
                <a:cs typeface="Calibri"/>
                <a:sym typeface="Calibri"/>
              </a:rPr>
              <a:t>LinkedIn</a:t>
            </a:r>
            <a:r>
              <a:rPr lang="en-IN" b="1" i="0" u="none" strike="noStrike" cap="none" dirty="0">
                <a:solidFill>
                  <a:schemeClr val="dk1"/>
                </a:solidFill>
                <a:latin typeface="Calibri"/>
                <a:ea typeface="Calibri"/>
                <a:cs typeface="Calibri"/>
                <a:sym typeface="Calibri"/>
              </a:rPr>
              <a:t> and </a:t>
            </a:r>
            <a:r>
              <a:rPr lang="en-IN" b="1" dirty="0">
                <a:solidFill>
                  <a:schemeClr val="dk1"/>
                </a:solidFill>
                <a:latin typeface="Calibri"/>
                <a:ea typeface="Calibri"/>
                <a:cs typeface="Calibri"/>
                <a:sym typeface="Calibri"/>
              </a:rPr>
              <a:t>GitHub</a:t>
            </a:r>
            <a:r>
              <a:rPr lang="en-IN" b="1" i="0" u="none" strike="noStrike" cap="none" dirty="0">
                <a:solidFill>
                  <a:schemeClr val="dk1"/>
                </a:solidFill>
                <a:latin typeface="Calibri"/>
                <a:ea typeface="Calibri"/>
                <a:cs typeface="Calibri"/>
                <a:sym typeface="Calibri"/>
              </a:rPr>
              <a:t> profile </a:t>
            </a:r>
            <a:r>
              <a:rPr lang="en-IN" b="1" dirty="0">
                <a:solidFill>
                  <a:schemeClr val="dk1"/>
                </a:solidFill>
                <a:latin typeface="Calibri"/>
                <a:ea typeface="Calibri"/>
                <a:cs typeface="Calibri"/>
                <a:sym typeface="Calibri"/>
              </a:rPr>
              <a:t>URLs: </a:t>
            </a:r>
            <a:r>
              <a:rPr lang="en-IN" dirty="0">
                <a:solidFill>
                  <a:schemeClr val="dk1"/>
                </a:solidFill>
                <a:latin typeface="Calibri"/>
                <a:ea typeface="Calibri"/>
                <a:cs typeface="Calibri"/>
                <a:sym typeface="Calibri"/>
                <a:hlinkClick r:id="rId3"/>
              </a:rPr>
              <a:t>https://www.linkedin.com/in/cb-praneetha-0b89b9286/</a:t>
            </a:r>
            <a:r>
              <a:rPr lang="en-IN" dirty="0">
                <a:solidFill>
                  <a:schemeClr val="dk1"/>
                </a:solidFill>
                <a:latin typeface="Calibri"/>
                <a:ea typeface="Calibri"/>
                <a:cs typeface="Calibri"/>
                <a:sym typeface="Calibri"/>
              </a:rPr>
              <a:t>   and </a:t>
            </a:r>
            <a:r>
              <a:rPr lang="en-IN" dirty="0">
                <a:solidFill>
                  <a:schemeClr val="dk1"/>
                </a:solidFill>
                <a:ea typeface="Calibri"/>
                <a:cs typeface="Calibri"/>
                <a:sym typeface="Calibri"/>
                <a:hlinkClick r:id="rId4"/>
              </a:rPr>
              <a:t>https://github.com/Praneethachittari</a:t>
            </a:r>
            <a:r>
              <a:rPr lang="en-IN" dirty="0">
                <a:solidFill>
                  <a:schemeClr val="dk1"/>
                </a:solidFill>
                <a:ea typeface="Calibri"/>
                <a:cs typeface="Calibri"/>
                <a:sym typeface="Calibri"/>
              </a:rPr>
              <a:t> </a:t>
            </a:r>
            <a:endParaRPr lang="en-IN" dirty="0">
              <a:solidFill>
                <a:schemeClr val="dk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endParaRPr lang="en-IN" sz="24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634116" y="532301"/>
            <a:ext cx="11091038" cy="486247"/>
          </a:xfrm>
          <a:prstGeom prst="rect">
            <a:avLst/>
          </a:prstGeom>
          <a:noFill/>
          <a:ln>
            <a:noFill/>
          </a:ln>
        </p:spPr>
        <p:txBody>
          <a:bodyPr spcFirstLastPara="1" wrap="square" lIns="91425" tIns="45700" rIns="91425" bIns="45700" anchor="t" anchorCtr="0">
            <a:spAutoFit/>
          </a:bodyPr>
          <a:lstStyle/>
          <a:p>
            <a:pPr marL="0" marR="0" lvl="0" indent="0" algn="ctr"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 </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52B3D3-9B49-9063-DA95-BC9B248D0644}"/>
              </a:ext>
            </a:extLst>
          </p:cNvPr>
          <p:cNvSpPr txBox="1"/>
          <p:nvPr/>
        </p:nvSpPr>
        <p:spPr>
          <a:xfrm>
            <a:off x="511277" y="1209375"/>
            <a:ext cx="9547122" cy="5031121"/>
          </a:xfrm>
          <a:prstGeom prst="rect">
            <a:avLst/>
          </a:prstGeom>
          <a:noFill/>
        </p:spPr>
        <p:txBody>
          <a:bodyPr wrap="square">
            <a:spAutoFit/>
          </a:bodyPr>
          <a:lstStyle/>
          <a:p>
            <a:pPr marL="25400" lvl="0" algn="l" rtl="0">
              <a:lnSpc>
                <a:spcPct val="90000"/>
              </a:lnSpc>
              <a:spcBef>
                <a:spcPts val="1000"/>
              </a:spcBef>
              <a:spcAft>
                <a:spcPts val="0"/>
              </a:spcAft>
              <a:buSzPts val="2400"/>
            </a:pPr>
            <a:endParaRPr lang="en-US" sz="2400" dirty="0"/>
          </a:p>
          <a:p>
            <a:pPr marL="457200" lvl="0" indent="-431800" algn="l" rtl="0">
              <a:lnSpc>
                <a:spcPct val="90000"/>
              </a:lnSpc>
              <a:spcBef>
                <a:spcPts val="1000"/>
              </a:spcBef>
              <a:spcAft>
                <a:spcPts val="0"/>
              </a:spcAft>
              <a:buSzPts val="2400"/>
              <a:buChar char="•"/>
            </a:pPr>
            <a:r>
              <a:rPr lang="en-US" sz="2400" b="1" dirty="0"/>
              <a:t>Business Problem</a:t>
            </a:r>
            <a:endParaRPr lang="en-US" sz="2400" dirty="0"/>
          </a:p>
          <a:p>
            <a:pPr marL="457200" lvl="0" indent="-431800" algn="l" rtl="0">
              <a:lnSpc>
                <a:spcPct val="90000"/>
              </a:lnSpc>
              <a:spcBef>
                <a:spcPts val="1000"/>
              </a:spcBef>
              <a:spcAft>
                <a:spcPts val="0"/>
              </a:spcAft>
              <a:buSzPts val="2400"/>
              <a:buChar char="•"/>
            </a:pPr>
            <a:r>
              <a:rPr lang="en-US" sz="2400" b="1" dirty="0"/>
              <a:t>Business statement</a:t>
            </a:r>
          </a:p>
          <a:p>
            <a:pPr marL="457200" lvl="0" indent="-431800" algn="l" rtl="0">
              <a:lnSpc>
                <a:spcPct val="90000"/>
              </a:lnSpc>
              <a:spcBef>
                <a:spcPts val="1000"/>
              </a:spcBef>
              <a:spcAft>
                <a:spcPts val="0"/>
              </a:spcAft>
              <a:buSzPts val="2400"/>
              <a:buChar char="•"/>
            </a:pPr>
            <a:r>
              <a:rPr lang="en-US" sz="2400" b="1" dirty="0"/>
              <a:t>Objective of the Project</a:t>
            </a:r>
          </a:p>
          <a:p>
            <a:pPr marL="457200" lvl="0" indent="-431800" algn="l" rtl="0">
              <a:lnSpc>
                <a:spcPct val="90000"/>
              </a:lnSpc>
              <a:spcBef>
                <a:spcPts val="1000"/>
              </a:spcBef>
              <a:spcAft>
                <a:spcPts val="0"/>
              </a:spcAft>
              <a:buSzPts val="2400"/>
              <a:buChar char="•"/>
            </a:pPr>
            <a:r>
              <a:rPr lang="en-US" sz="2400" b="1" dirty="0"/>
              <a:t>Introduction</a:t>
            </a:r>
          </a:p>
          <a:p>
            <a:pPr marL="457200" lvl="0" indent="-431800" algn="l" rtl="0">
              <a:lnSpc>
                <a:spcPct val="90000"/>
              </a:lnSpc>
              <a:spcBef>
                <a:spcPts val="1000"/>
              </a:spcBef>
              <a:spcAft>
                <a:spcPts val="0"/>
              </a:spcAft>
              <a:buSzPts val="2400"/>
              <a:buChar char="•"/>
            </a:pPr>
            <a:r>
              <a:rPr lang="en-US" sz="2400" b="1" dirty="0"/>
              <a:t>Data Description</a:t>
            </a:r>
          </a:p>
          <a:p>
            <a:pPr marL="457200" lvl="0" indent="-431800" algn="l" rtl="0">
              <a:lnSpc>
                <a:spcPct val="90000"/>
              </a:lnSpc>
              <a:spcBef>
                <a:spcPts val="1000"/>
              </a:spcBef>
              <a:spcAft>
                <a:spcPts val="0"/>
              </a:spcAft>
              <a:buSzPts val="2400"/>
              <a:buChar char="•"/>
            </a:pPr>
            <a:r>
              <a:rPr lang="en-US" sz="2400" b="1" dirty="0"/>
              <a:t>Queries and Outputs</a:t>
            </a:r>
          </a:p>
          <a:p>
            <a:pPr marL="457200" lvl="0" indent="-431800" algn="l" rtl="0">
              <a:lnSpc>
                <a:spcPct val="90000"/>
              </a:lnSpc>
              <a:spcBef>
                <a:spcPts val="1000"/>
              </a:spcBef>
              <a:spcAft>
                <a:spcPts val="0"/>
              </a:spcAft>
              <a:buSzPts val="2400"/>
              <a:buChar char="•"/>
            </a:pPr>
            <a:r>
              <a:rPr lang="en-US" sz="2400" b="1" dirty="0"/>
              <a:t>Key insights</a:t>
            </a:r>
          </a:p>
          <a:p>
            <a:pPr marL="457200" lvl="0" indent="-431800" algn="l" rtl="0">
              <a:lnSpc>
                <a:spcPct val="90000"/>
              </a:lnSpc>
              <a:spcBef>
                <a:spcPts val="1000"/>
              </a:spcBef>
              <a:spcAft>
                <a:spcPts val="0"/>
              </a:spcAft>
              <a:buSzPts val="2400"/>
              <a:buChar char="•"/>
            </a:pPr>
            <a:r>
              <a:rPr lang="en-US" sz="2400" b="1" dirty="0"/>
              <a:t>Recommendations</a:t>
            </a:r>
          </a:p>
          <a:p>
            <a:pPr marL="457200" lvl="0" indent="-431800" algn="l" rtl="0">
              <a:lnSpc>
                <a:spcPct val="90000"/>
              </a:lnSpc>
              <a:spcBef>
                <a:spcPts val="1000"/>
              </a:spcBef>
              <a:spcAft>
                <a:spcPts val="0"/>
              </a:spcAft>
              <a:buSzPts val="2400"/>
              <a:buChar char="•"/>
            </a:pPr>
            <a:r>
              <a:rPr lang="en-US" sz="2400" b="1" dirty="0"/>
              <a:t>Conclusion</a:t>
            </a:r>
          </a:p>
          <a:p>
            <a:pPr marL="457200" lvl="0" indent="-431800" algn="l" rtl="0">
              <a:lnSpc>
                <a:spcPct val="90000"/>
              </a:lnSpc>
              <a:spcBef>
                <a:spcPts val="1000"/>
              </a:spcBef>
              <a:spcAft>
                <a:spcPts val="0"/>
              </a:spcAft>
              <a:buSzPts val="2400"/>
              <a:buChar char="•"/>
            </a:pPr>
            <a:endParaRPr lang="en-US" sz="2400" dirty="0"/>
          </a:p>
        </p:txBody>
      </p:sp>
      <p:sp>
        <p:nvSpPr>
          <p:cNvPr id="5" name="TextBox 4">
            <a:extLst>
              <a:ext uri="{FF2B5EF4-FFF2-40B4-BE49-F238E27FC236}">
                <a16:creationId xmlns:a16="http://schemas.microsoft.com/office/drawing/2014/main" id="{BBC6DE0B-E8B7-F9A6-94CD-6CA2D3239880}"/>
              </a:ext>
            </a:extLst>
          </p:cNvPr>
          <p:cNvSpPr txBox="1"/>
          <p:nvPr/>
        </p:nvSpPr>
        <p:spPr>
          <a:xfrm>
            <a:off x="265471" y="127819"/>
            <a:ext cx="4434348" cy="1015663"/>
          </a:xfrm>
          <a:prstGeom prst="rect">
            <a:avLst/>
          </a:prstGeom>
          <a:noFill/>
        </p:spPr>
        <p:txBody>
          <a:bodyPr wrap="square" rtlCol="0">
            <a:spAutoFit/>
          </a:bodyPr>
          <a:lstStyle/>
          <a:p>
            <a:r>
              <a:rPr lang="en-US" sz="6000" dirty="0">
                <a:solidFill>
                  <a:srgbClr val="FF0000"/>
                </a:solidFill>
              </a:rPr>
              <a:t>Agenda</a:t>
            </a:r>
            <a:endParaRPr lang="en-IN" sz="6000" dirty="0">
              <a:solidFill>
                <a:srgbClr val="FF0000"/>
              </a:solidFill>
            </a:endParaRPr>
          </a:p>
        </p:txBody>
      </p:sp>
    </p:spTree>
    <p:extLst>
      <p:ext uri="{BB962C8B-B14F-4D97-AF65-F5344CB8AC3E}">
        <p14:creationId xmlns:p14="http://schemas.microsoft.com/office/powerpoint/2010/main" val="2813591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C6C40A-20A2-9257-1E38-7AA115E93EB1}"/>
              </a:ext>
            </a:extLst>
          </p:cNvPr>
          <p:cNvSpPr txBox="1"/>
          <p:nvPr/>
        </p:nvSpPr>
        <p:spPr>
          <a:xfrm>
            <a:off x="1117600" y="636608"/>
            <a:ext cx="10526532" cy="5232202"/>
          </a:xfrm>
          <a:prstGeom prst="rect">
            <a:avLst/>
          </a:prstGeom>
          <a:noFill/>
        </p:spPr>
        <p:txBody>
          <a:bodyPr wrap="square" rtlCol="0">
            <a:spAutoFit/>
          </a:bodyPr>
          <a:lstStyle/>
          <a:p>
            <a:pPr algn="ctr"/>
            <a:r>
              <a:rPr lang="en-US" sz="4000" b="1" dirty="0">
                <a:solidFill>
                  <a:srgbClr val="FF0000"/>
                </a:solidFill>
              </a:rPr>
              <a:t>Business Problem</a:t>
            </a:r>
          </a:p>
          <a:p>
            <a:endParaRPr lang="en-US" sz="4000" b="1" dirty="0"/>
          </a:p>
          <a:p>
            <a:r>
              <a:rPr lang="en-US" sz="2800" dirty="0"/>
              <a:t>Organisations manage large amounts of employee information such as employee details, departments, salaries, bonuses, leaves, and payroll. When this information is stored across multiple tables, it can become difficult to analyze and generate reports efficiently.</a:t>
            </a:r>
          </a:p>
          <a:p>
            <a:r>
              <a:rPr lang="en-US" sz="2800" dirty="0"/>
              <a:t>The HR team needs a reliable system to retrieve employee information, analyze salary and leave patterns, understand department-wise workforce distribution, and support better decision-making.</a:t>
            </a:r>
          </a:p>
          <a:p>
            <a:br>
              <a:rPr lang="en-US" sz="2000" dirty="0"/>
            </a:br>
            <a:endParaRPr lang="en-US" sz="2000" dirty="0"/>
          </a:p>
          <a:p>
            <a:endParaRPr lang="en-IN" dirty="0"/>
          </a:p>
        </p:txBody>
      </p:sp>
    </p:spTree>
    <p:extLst>
      <p:ext uri="{BB962C8B-B14F-4D97-AF65-F5344CB8AC3E}">
        <p14:creationId xmlns:p14="http://schemas.microsoft.com/office/powerpoint/2010/main" val="4275655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D87C73-8A2D-497E-91C8-5236C2B7803D}"/>
              </a:ext>
            </a:extLst>
          </p:cNvPr>
          <p:cNvSpPr txBox="1"/>
          <p:nvPr/>
        </p:nvSpPr>
        <p:spPr>
          <a:xfrm>
            <a:off x="1127105" y="1874728"/>
            <a:ext cx="9519920" cy="3108543"/>
          </a:xfrm>
          <a:prstGeom prst="rect">
            <a:avLst/>
          </a:prstGeom>
          <a:noFill/>
        </p:spPr>
        <p:txBody>
          <a:bodyPr wrap="square">
            <a:spAutoFit/>
          </a:bodyPr>
          <a:lstStyle/>
          <a:p>
            <a:pPr lvl="0">
              <a:buClr>
                <a:srgbClr val="000000"/>
              </a:buClr>
              <a:buSzPts val="1800"/>
            </a:pPr>
            <a:r>
              <a:rPr lang="en-US" sz="2800" dirty="0"/>
              <a:t>The Employee Management System is developed to centralize and manage employee, department, salary, qualification, leave, and payroll information in a structured relational database. The system uses SQL to analyze this data and provide meaningful insights that help HR and management make informed decisions related to workforce planning, compensation, leave management, and payroll.</a:t>
            </a:r>
            <a:endParaRPr lang="en-IN" sz="2800" b="1" dirty="0">
              <a:solidFill>
                <a:schemeClr val="dk1"/>
              </a:solidFill>
              <a:latin typeface="Calibri"/>
              <a:ea typeface="Calibri"/>
              <a:cs typeface="Calibri"/>
              <a:sym typeface="Calibri"/>
            </a:endParaRPr>
          </a:p>
        </p:txBody>
      </p:sp>
      <p:sp>
        <p:nvSpPr>
          <p:cNvPr id="5" name="TextBox 4">
            <a:extLst>
              <a:ext uri="{FF2B5EF4-FFF2-40B4-BE49-F238E27FC236}">
                <a16:creationId xmlns:a16="http://schemas.microsoft.com/office/drawing/2014/main" id="{E051860C-2AEF-341E-5D69-CD8A2B54F5E8}"/>
              </a:ext>
            </a:extLst>
          </p:cNvPr>
          <p:cNvSpPr txBox="1"/>
          <p:nvPr/>
        </p:nvSpPr>
        <p:spPr>
          <a:xfrm>
            <a:off x="2714686" y="701731"/>
            <a:ext cx="6124514" cy="714113"/>
          </a:xfrm>
          <a:prstGeom prst="rect">
            <a:avLst/>
          </a:prstGeom>
          <a:noFill/>
        </p:spPr>
        <p:txBody>
          <a:bodyPr wrap="square">
            <a:spAutoFit/>
          </a:bodyPr>
          <a:lstStyle/>
          <a:p>
            <a:pPr algn="ctr"/>
            <a:r>
              <a:rPr lang="en-IN" sz="4000" dirty="0">
                <a:solidFill>
                  <a:srgbClr val="FF0000"/>
                </a:solidFill>
              </a:rPr>
              <a:t>Business Statement</a:t>
            </a:r>
          </a:p>
        </p:txBody>
      </p:sp>
    </p:spTree>
    <p:extLst>
      <p:ext uri="{BB962C8B-B14F-4D97-AF65-F5344CB8AC3E}">
        <p14:creationId xmlns:p14="http://schemas.microsoft.com/office/powerpoint/2010/main" val="3790634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F3E3F9-94F0-BCAE-5E11-D7E3DA8DA089}"/>
              </a:ext>
            </a:extLst>
          </p:cNvPr>
          <p:cNvSpPr txBox="1"/>
          <p:nvPr/>
        </p:nvSpPr>
        <p:spPr>
          <a:xfrm>
            <a:off x="428263" y="381965"/>
            <a:ext cx="11157995" cy="5416868"/>
          </a:xfrm>
          <a:prstGeom prst="rect">
            <a:avLst/>
          </a:prstGeom>
          <a:noFill/>
        </p:spPr>
        <p:txBody>
          <a:bodyPr wrap="square" rtlCol="0">
            <a:spAutoFit/>
          </a:bodyPr>
          <a:lstStyle/>
          <a:p>
            <a:pPr algn="ctr"/>
            <a:r>
              <a:rPr lang="en-US" sz="3200" b="1" dirty="0">
                <a:solidFill>
                  <a:srgbClr val="FF0000"/>
                </a:solidFill>
              </a:rPr>
              <a:t>Objective of the Project</a:t>
            </a:r>
          </a:p>
          <a:p>
            <a:pPr algn="ctr"/>
            <a:endParaRPr lang="en-US" sz="3200" b="1" dirty="0"/>
          </a:p>
          <a:p>
            <a:r>
              <a:rPr lang="en-US" sz="2400" dirty="0"/>
              <a:t>The main objective is to use SQL to </a:t>
            </a:r>
            <a:r>
              <a:rPr lang="en-US" sz="2400" dirty="0">
                <a:solidFill>
                  <a:schemeClr val="accent2">
                    <a:lumMod val="60000"/>
                    <a:lumOff val="40000"/>
                  </a:schemeClr>
                </a:solidFill>
              </a:rPr>
              <a:t>manage, </a:t>
            </a:r>
            <a:r>
              <a:rPr lang="en-US" sz="2400" dirty="0" err="1">
                <a:solidFill>
                  <a:schemeClr val="accent2">
                    <a:lumMod val="60000"/>
                    <a:lumOff val="40000"/>
                  </a:schemeClr>
                </a:solidFill>
              </a:rPr>
              <a:t>analyse</a:t>
            </a:r>
            <a:r>
              <a:rPr lang="en-US" sz="2400" dirty="0">
                <a:solidFill>
                  <a:schemeClr val="accent2">
                    <a:lumMod val="60000"/>
                    <a:lumOff val="40000"/>
                  </a:schemeClr>
                </a:solidFill>
              </a:rPr>
              <a:t>, and retrieve employee data efficiently.</a:t>
            </a:r>
          </a:p>
          <a:p>
            <a:r>
              <a:rPr lang="en-US" sz="2400" dirty="0"/>
              <a:t>The project aims to:</a:t>
            </a:r>
          </a:p>
          <a:p>
            <a:endParaRPr lang="en-US" sz="2400" dirty="0"/>
          </a:p>
          <a:p>
            <a:pPr marL="514350" indent="-514350">
              <a:buFont typeface="+mj-lt"/>
              <a:buAutoNum type="arabicPeriod"/>
            </a:pPr>
            <a:r>
              <a:rPr lang="en-US" sz="2400" dirty="0"/>
              <a:t>Analyze employee distribution across departments.</a:t>
            </a:r>
          </a:p>
          <a:p>
            <a:pPr marL="514350" indent="-514350">
              <a:buFont typeface="+mj-lt"/>
              <a:buAutoNum type="arabicPeriod"/>
            </a:pPr>
            <a:r>
              <a:rPr lang="en-US" sz="2400" dirty="0"/>
              <a:t>Analyze salary and bonus information.</a:t>
            </a:r>
          </a:p>
          <a:p>
            <a:pPr marL="514350" indent="-514350">
              <a:buFont typeface="+mj-lt"/>
              <a:buAutoNum type="arabicPeriod"/>
            </a:pPr>
            <a:r>
              <a:rPr lang="en-US" sz="2400" dirty="0"/>
              <a:t>Understand employee leave patterns.</a:t>
            </a:r>
          </a:p>
          <a:p>
            <a:pPr marL="514350" indent="-514350">
              <a:buFont typeface="+mj-lt"/>
              <a:buAutoNum type="arabicPeriod"/>
            </a:pPr>
            <a:r>
              <a:rPr lang="en-US" sz="2400" dirty="0"/>
              <a:t>Calculate payroll-related information.</a:t>
            </a:r>
          </a:p>
          <a:p>
            <a:pPr marL="514350" indent="-514350">
              <a:buFont typeface="+mj-lt"/>
              <a:buAutoNum type="arabicPeriod"/>
            </a:pPr>
            <a:r>
              <a:rPr lang="en-US" sz="2400" dirty="0"/>
              <a:t>Identify useful employee and department-level insights.</a:t>
            </a:r>
          </a:p>
          <a:p>
            <a:pPr marL="514350" indent="-514350">
              <a:buFont typeface="+mj-lt"/>
              <a:buAutoNum type="arabicPeriod"/>
            </a:pPr>
            <a:r>
              <a:rPr lang="en-US" sz="2400" dirty="0"/>
              <a:t>Practice real-world SQL concepts such as Joins, aggregate functions, Group by, Having, subqueries, and filtering.</a:t>
            </a:r>
          </a:p>
          <a:p>
            <a:endParaRPr lang="en-IN" dirty="0"/>
          </a:p>
        </p:txBody>
      </p:sp>
    </p:spTree>
    <p:extLst>
      <p:ext uri="{BB962C8B-B14F-4D97-AF65-F5344CB8AC3E}">
        <p14:creationId xmlns:p14="http://schemas.microsoft.com/office/powerpoint/2010/main" val="2188929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28239-CDC5-D0B1-7DD4-A68045FB252D}"/>
              </a:ext>
            </a:extLst>
          </p:cNvPr>
          <p:cNvSpPr>
            <a:spLocks noGrp="1"/>
          </p:cNvSpPr>
          <p:nvPr>
            <p:ph type="title"/>
          </p:nvPr>
        </p:nvSpPr>
        <p:spPr>
          <a:xfrm>
            <a:off x="969798" y="598041"/>
            <a:ext cx="9603275" cy="790601"/>
          </a:xfrm>
        </p:spPr>
        <p:txBody>
          <a:bodyPr/>
          <a:lstStyle/>
          <a:p>
            <a:pPr algn="ctr"/>
            <a:r>
              <a:rPr lang="en-IN" dirty="0">
                <a:solidFill>
                  <a:srgbClr val="FF0000"/>
                </a:solidFill>
              </a:rPr>
              <a:t>Introduction</a:t>
            </a:r>
          </a:p>
        </p:txBody>
      </p:sp>
      <p:sp>
        <p:nvSpPr>
          <p:cNvPr id="3" name="TextBox 2">
            <a:extLst>
              <a:ext uri="{FF2B5EF4-FFF2-40B4-BE49-F238E27FC236}">
                <a16:creationId xmlns:a16="http://schemas.microsoft.com/office/drawing/2014/main" id="{C112786A-9D3A-7F79-5182-7C63A6A54D93}"/>
              </a:ext>
            </a:extLst>
          </p:cNvPr>
          <p:cNvSpPr txBox="1"/>
          <p:nvPr/>
        </p:nvSpPr>
        <p:spPr>
          <a:xfrm>
            <a:off x="796413" y="2104103"/>
            <a:ext cx="10422193" cy="3608439"/>
          </a:xfrm>
          <a:prstGeom prst="rect">
            <a:avLst/>
          </a:prstGeom>
          <a:noFill/>
        </p:spPr>
        <p:txBody>
          <a:bodyPr wrap="square" rtlCol="0">
            <a:spAutoFit/>
          </a:bodyPr>
          <a:lstStyle/>
          <a:p>
            <a:endParaRPr lang="en-IN" dirty="0"/>
          </a:p>
        </p:txBody>
      </p:sp>
      <p:sp>
        <p:nvSpPr>
          <p:cNvPr id="6" name="Rectangle 3">
            <a:extLst>
              <a:ext uri="{FF2B5EF4-FFF2-40B4-BE49-F238E27FC236}">
                <a16:creationId xmlns:a16="http://schemas.microsoft.com/office/drawing/2014/main" id="{6F552F7D-5DF3-745C-58FA-504514D0D6F5}"/>
              </a:ext>
            </a:extLst>
          </p:cNvPr>
          <p:cNvSpPr>
            <a:spLocks noChangeArrowheads="1"/>
          </p:cNvSpPr>
          <p:nvPr/>
        </p:nvSpPr>
        <p:spPr bwMode="auto">
          <a:xfrm>
            <a:off x="101600" y="1764606"/>
            <a:ext cx="118364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The </a:t>
            </a:r>
            <a:r>
              <a:rPr kumimoji="0" lang="en-US" altLang="en-US" b="1" i="0" u="none" strike="noStrike" cap="none" normalizeH="0" baseline="0" dirty="0">
                <a:ln>
                  <a:noFill/>
                </a:ln>
                <a:solidFill>
                  <a:schemeClr val="tx1"/>
                </a:solidFill>
                <a:effectLst/>
                <a:latin typeface="Arial" panose="020B0604020202020204" pitchFamily="34" charset="0"/>
              </a:rPr>
              <a:t>Employee Management System (EMS)</a:t>
            </a:r>
            <a:r>
              <a:rPr kumimoji="0" lang="en-US" altLang="en-US" b="0" i="0" u="none" strike="noStrike" cap="none" normalizeH="0" baseline="0" dirty="0">
                <a:ln>
                  <a:noFill/>
                </a:ln>
                <a:solidFill>
                  <a:schemeClr val="tx1"/>
                </a:solidFill>
                <a:effectLst/>
                <a:latin typeface="Arial" panose="020B0604020202020204" pitchFamily="34" charset="0"/>
              </a:rPr>
              <a:t> is a SQL-based project designed to manage and organize employee-related information within an organization. The main purpose of this system is to maintain employee records and make it easier to manage </a:t>
            </a:r>
            <a:r>
              <a:rPr kumimoji="0" lang="en-US" altLang="en-US" b="1" i="0" u="none" strike="noStrike" cap="none" normalizeH="0" baseline="0" dirty="0">
                <a:ln>
                  <a:noFill/>
                </a:ln>
                <a:solidFill>
                  <a:schemeClr val="tx1"/>
                </a:solidFill>
                <a:effectLst/>
                <a:latin typeface="Arial" panose="020B0604020202020204" pitchFamily="34" charset="0"/>
              </a:rPr>
              <a:t>job roles, departments, salaries, bonuses, leaves, and payroll information</a:t>
            </a:r>
            <a:r>
              <a:rPr kumimoji="0" lang="en-US" altLang="en-US" b="0" i="0" u="none" strike="noStrike" cap="none" normalizeH="0" baseline="0" dirty="0">
                <a:ln>
                  <a:noFill/>
                </a:ln>
                <a:solidFill>
                  <a:schemeClr val="tx1"/>
                </a:solidFill>
                <a:effectLst/>
                <a:latin typeface="Arial" panose="020B0604020202020204" pitchFamily="34" charset="0"/>
              </a:rPr>
              <a:t> in a structured way.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In this project, I created multiple related tables to represent different areas of employee management. Employee details are connected with their respective </a:t>
            </a:r>
            <a:r>
              <a:rPr kumimoji="0" lang="en-US" altLang="en-US" b="1" i="0" u="none" strike="noStrike" cap="none" normalizeH="0" baseline="0" dirty="0">
                <a:ln>
                  <a:noFill/>
                </a:ln>
                <a:solidFill>
                  <a:schemeClr val="tx1"/>
                </a:solidFill>
                <a:effectLst/>
                <a:latin typeface="Arial" panose="020B0604020202020204" pitchFamily="34" charset="0"/>
              </a:rPr>
              <a:t>job departments and roles</a:t>
            </a:r>
            <a:r>
              <a:rPr kumimoji="0" lang="en-US" altLang="en-US" b="0" i="0" u="none" strike="noStrike" cap="none" normalizeH="0" baseline="0" dirty="0">
                <a:ln>
                  <a:noFill/>
                </a:ln>
                <a:solidFill>
                  <a:schemeClr val="tx1"/>
                </a:solidFill>
                <a:effectLst/>
                <a:latin typeface="Arial" panose="020B0604020202020204" pitchFamily="34" charset="0"/>
              </a:rPr>
              <a:t>, while salary and bonus information is maintained separately. The system also stores </a:t>
            </a:r>
            <a:r>
              <a:rPr kumimoji="0" lang="en-US" altLang="en-US" b="1" i="0" u="none" strike="noStrike" cap="none" normalizeH="0" baseline="0" dirty="0">
                <a:ln>
                  <a:noFill/>
                </a:ln>
                <a:solidFill>
                  <a:schemeClr val="tx1"/>
                </a:solidFill>
                <a:effectLst/>
                <a:latin typeface="Arial" panose="020B0604020202020204" pitchFamily="34" charset="0"/>
              </a:rPr>
              <a:t>leave records and payroll details</a:t>
            </a:r>
            <a:r>
              <a:rPr kumimoji="0" lang="en-US" altLang="en-US" b="0" i="0" u="none" strike="noStrike" cap="none" normalizeH="0" baseline="0" dirty="0">
                <a:ln>
                  <a:noFill/>
                </a:ln>
                <a:solidFill>
                  <a:schemeClr val="tx1"/>
                </a:solidFill>
                <a:effectLst/>
                <a:latin typeface="Arial" panose="020B0604020202020204" pitchFamily="34" charset="0"/>
              </a:rPr>
              <a:t>, which helps in analyzing employee compensation and attendance-related information.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I used </a:t>
            </a:r>
            <a:r>
              <a:rPr kumimoji="0" lang="en-US" altLang="en-US" b="1" i="0" u="none" strike="noStrike" cap="none" normalizeH="0" baseline="0" dirty="0">
                <a:ln>
                  <a:noFill/>
                </a:ln>
                <a:solidFill>
                  <a:schemeClr val="tx1"/>
                </a:solidFill>
                <a:effectLst/>
                <a:latin typeface="Arial" panose="020B0604020202020204" pitchFamily="34" charset="0"/>
              </a:rPr>
              <a:t>MySQL</a:t>
            </a:r>
            <a:r>
              <a:rPr kumimoji="0" lang="en-US" altLang="en-US" b="0" i="0" u="none" strike="noStrike" cap="none" normalizeH="0" baseline="0" dirty="0">
                <a:ln>
                  <a:noFill/>
                </a:ln>
                <a:solidFill>
                  <a:schemeClr val="tx1"/>
                </a:solidFill>
                <a:effectLst/>
                <a:latin typeface="Arial" panose="020B0604020202020204" pitchFamily="34" charset="0"/>
              </a:rPr>
              <a:t> to create the database, define tables, establish relationships using </a:t>
            </a:r>
            <a:r>
              <a:rPr kumimoji="0" lang="en-US" altLang="en-US" b="1" i="0" u="none" strike="noStrike" cap="none" normalizeH="0" baseline="0" dirty="0">
                <a:ln>
                  <a:noFill/>
                </a:ln>
                <a:solidFill>
                  <a:schemeClr val="tx1"/>
                </a:solidFill>
                <a:effectLst/>
                <a:latin typeface="Arial" panose="020B0604020202020204" pitchFamily="34" charset="0"/>
              </a:rPr>
              <a:t>primary keys and foreign keys</a:t>
            </a:r>
            <a:r>
              <a:rPr kumimoji="0" lang="en-US" altLang="en-US" b="0" i="0" u="none" strike="noStrike" cap="none" normalizeH="0" baseline="0" dirty="0">
                <a:ln>
                  <a:noFill/>
                </a:ln>
                <a:solidFill>
                  <a:schemeClr val="tx1"/>
                </a:solidFill>
                <a:effectLst/>
                <a:latin typeface="Arial" panose="020B0604020202020204" pitchFamily="34" charset="0"/>
              </a:rPr>
              <a:t>, and perform different types of SQL queries. I also used concepts such as </a:t>
            </a:r>
            <a:r>
              <a:rPr kumimoji="0" lang="en-US" altLang="en-US" b="1" i="0" u="none" strike="noStrike" cap="none" normalizeH="0" baseline="0" dirty="0">
                <a:ln>
                  <a:noFill/>
                </a:ln>
                <a:solidFill>
                  <a:schemeClr val="tx1"/>
                </a:solidFill>
                <a:effectLst/>
                <a:latin typeface="Arial" panose="020B0604020202020204" pitchFamily="34" charset="0"/>
              </a:rPr>
              <a:t>JOINs, subqueries, aggregate functions, GROUP BY, HAVING, ORDER BY, DISTINCT, and correlated queries</a:t>
            </a:r>
            <a:r>
              <a:rPr kumimoji="0" lang="en-US" altLang="en-US" b="0" i="0" u="none" strike="noStrike" cap="none" normalizeH="0" baseline="0" dirty="0">
                <a:ln>
                  <a:noFill/>
                </a:ln>
                <a:solidFill>
                  <a:schemeClr val="tx1"/>
                </a:solidFill>
                <a:effectLst/>
                <a:latin typeface="Arial" panose="020B0604020202020204" pitchFamily="34" charset="0"/>
              </a:rPr>
              <a:t> to generate meaningful business insights from the data.</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Overall, this project demonstrates how SQL can be used to build a structured employee database and generate useful reports that can support </a:t>
            </a:r>
            <a:r>
              <a:rPr kumimoji="0" lang="en-US" altLang="en-US" b="1" i="0" u="none" strike="noStrike" cap="none" normalizeH="0" baseline="0" dirty="0">
                <a:ln>
                  <a:noFill/>
                </a:ln>
                <a:solidFill>
                  <a:schemeClr val="tx1"/>
                </a:solidFill>
                <a:effectLst/>
                <a:latin typeface="Arial" panose="020B0604020202020204" pitchFamily="34" charset="0"/>
              </a:rPr>
              <a:t>HR, payroll, and management decision-making</a:t>
            </a:r>
            <a:r>
              <a:rPr kumimoji="0" lang="en-US" altLang="en-US"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550333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88CE255-8D87-08D3-C884-22F660B041AD}"/>
              </a:ext>
            </a:extLst>
          </p:cNvPr>
          <p:cNvGraphicFramePr>
            <a:graphicFrameLocks noGrp="1"/>
          </p:cNvGraphicFramePr>
          <p:nvPr>
            <p:extLst>
              <p:ext uri="{D42A27DB-BD31-4B8C-83A1-F6EECF244321}">
                <p14:modId xmlns:p14="http://schemas.microsoft.com/office/powerpoint/2010/main" val="3966902330"/>
              </p:ext>
            </p:extLst>
          </p:nvPr>
        </p:nvGraphicFramePr>
        <p:xfrm>
          <a:off x="712839" y="746760"/>
          <a:ext cx="10771239" cy="5364480"/>
        </p:xfrm>
        <a:graphic>
          <a:graphicData uri="http://schemas.openxmlformats.org/drawingml/2006/table">
            <a:tbl>
              <a:tblPr firstRow="1" bandRow="1">
                <a:tableStyleId>{5C22544A-7EE6-4342-B048-85BDC9FD1C3A}</a:tableStyleId>
              </a:tblPr>
              <a:tblGrid>
                <a:gridCol w="3590413">
                  <a:extLst>
                    <a:ext uri="{9D8B030D-6E8A-4147-A177-3AD203B41FA5}">
                      <a16:colId xmlns:a16="http://schemas.microsoft.com/office/drawing/2014/main" val="140255933"/>
                    </a:ext>
                  </a:extLst>
                </a:gridCol>
                <a:gridCol w="3590413">
                  <a:extLst>
                    <a:ext uri="{9D8B030D-6E8A-4147-A177-3AD203B41FA5}">
                      <a16:colId xmlns:a16="http://schemas.microsoft.com/office/drawing/2014/main" val="3458689120"/>
                    </a:ext>
                  </a:extLst>
                </a:gridCol>
                <a:gridCol w="3590413">
                  <a:extLst>
                    <a:ext uri="{9D8B030D-6E8A-4147-A177-3AD203B41FA5}">
                      <a16:colId xmlns:a16="http://schemas.microsoft.com/office/drawing/2014/main" val="3410613851"/>
                    </a:ext>
                  </a:extLst>
                </a:gridCol>
              </a:tblGrid>
              <a:tr h="325417">
                <a:tc>
                  <a:txBody>
                    <a:bodyPr/>
                    <a:lstStyle/>
                    <a:p>
                      <a:pPr algn="ctr">
                        <a:buNone/>
                      </a:pPr>
                      <a:r>
                        <a:rPr lang="en-IN" sz="1600" dirty="0"/>
                        <a:t>Table Name</a:t>
                      </a:r>
                    </a:p>
                  </a:txBody>
                  <a:tcPr anchor="ctr"/>
                </a:tc>
                <a:tc>
                  <a:txBody>
                    <a:bodyPr/>
                    <a:lstStyle/>
                    <a:p>
                      <a:pPr algn="ctr">
                        <a:buNone/>
                      </a:pPr>
                      <a:r>
                        <a:rPr lang="en-IN" sz="1600"/>
                        <a:t>Column Name</a:t>
                      </a:r>
                    </a:p>
                  </a:txBody>
                  <a:tcPr anchor="ctr"/>
                </a:tc>
                <a:tc>
                  <a:txBody>
                    <a:bodyPr/>
                    <a:lstStyle/>
                    <a:p>
                      <a:pPr algn="ctr">
                        <a:buNone/>
                      </a:pPr>
                      <a:r>
                        <a:rPr lang="en-IN" sz="1600" dirty="0"/>
                        <a:t>Data Type</a:t>
                      </a:r>
                    </a:p>
                  </a:txBody>
                  <a:tcPr anchor="ctr"/>
                </a:tc>
                <a:extLst>
                  <a:ext uri="{0D108BD9-81ED-4DB2-BD59-A6C34878D82A}">
                    <a16:rowId xmlns:a16="http://schemas.microsoft.com/office/drawing/2014/main" val="4176380405"/>
                  </a:ext>
                </a:extLst>
              </a:tr>
              <a:tr h="325417">
                <a:tc>
                  <a:txBody>
                    <a:bodyPr/>
                    <a:lstStyle/>
                    <a:p>
                      <a:pPr algn="ctr">
                        <a:buNone/>
                      </a:pPr>
                      <a:r>
                        <a:rPr lang="en-IN" sz="1600" b="1" dirty="0"/>
                        <a:t>Job Department</a:t>
                      </a:r>
                      <a:endParaRPr lang="en-IN" sz="1600" dirty="0"/>
                    </a:p>
                  </a:txBody>
                  <a:tcPr anchor="ctr"/>
                </a:tc>
                <a:tc>
                  <a:txBody>
                    <a:bodyPr/>
                    <a:lstStyle/>
                    <a:p>
                      <a:pPr algn="ctr">
                        <a:buNone/>
                      </a:pPr>
                      <a:r>
                        <a:rPr lang="en-IN" sz="1600"/>
                        <a:t>Job_ID</a:t>
                      </a:r>
                    </a:p>
                  </a:txBody>
                  <a:tcPr anchor="ctr"/>
                </a:tc>
                <a:tc>
                  <a:txBody>
                    <a:bodyPr/>
                    <a:lstStyle/>
                    <a:p>
                      <a:pPr algn="ctr">
                        <a:buNone/>
                      </a:pPr>
                      <a:r>
                        <a:rPr lang="en-IN" sz="1600"/>
                        <a:t>INT</a:t>
                      </a:r>
                    </a:p>
                  </a:txBody>
                  <a:tcPr anchor="ctr"/>
                </a:tc>
                <a:extLst>
                  <a:ext uri="{0D108BD9-81ED-4DB2-BD59-A6C34878D82A}">
                    <a16:rowId xmlns:a16="http://schemas.microsoft.com/office/drawing/2014/main" val="487594377"/>
                  </a:ext>
                </a:extLst>
              </a:tr>
              <a:tr h="325417">
                <a:tc>
                  <a:txBody>
                    <a:bodyPr/>
                    <a:lstStyle/>
                    <a:p>
                      <a:pPr algn="ctr">
                        <a:buNone/>
                      </a:pPr>
                      <a:endParaRPr lang="en-IN" sz="1600" dirty="0"/>
                    </a:p>
                  </a:txBody>
                  <a:tcPr anchor="ctr"/>
                </a:tc>
                <a:tc>
                  <a:txBody>
                    <a:bodyPr/>
                    <a:lstStyle/>
                    <a:p>
                      <a:pPr algn="ctr">
                        <a:buNone/>
                      </a:pPr>
                      <a:r>
                        <a:rPr lang="en-IN" sz="1600"/>
                        <a:t>jobdept</a:t>
                      </a:r>
                    </a:p>
                  </a:txBody>
                  <a:tcPr anchor="ctr"/>
                </a:tc>
                <a:tc>
                  <a:txBody>
                    <a:bodyPr/>
                    <a:lstStyle/>
                    <a:p>
                      <a:pPr algn="ctr">
                        <a:buNone/>
                      </a:pPr>
                      <a:r>
                        <a:rPr lang="en-IN" sz="1600"/>
                        <a:t>VARCHAR(50)</a:t>
                      </a:r>
                    </a:p>
                  </a:txBody>
                  <a:tcPr anchor="ctr"/>
                </a:tc>
                <a:extLst>
                  <a:ext uri="{0D108BD9-81ED-4DB2-BD59-A6C34878D82A}">
                    <a16:rowId xmlns:a16="http://schemas.microsoft.com/office/drawing/2014/main" val="2070301150"/>
                  </a:ext>
                </a:extLst>
              </a:tr>
              <a:tr h="325417">
                <a:tc>
                  <a:txBody>
                    <a:bodyPr/>
                    <a:lstStyle/>
                    <a:p>
                      <a:pPr algn="ctr">
                        <a:buNone/>
                      </a:pPr>
                      <a:endParaRPr lang="en-IN" sz="1600"/>
                    </a:p>
                  </a:txBody>
                  <a:tcPr anchor="ctr"/>
                </a:tc>
                <a:tc>
                  <a:txBody>
                    <a:bodyPr/>
                    <a:lstStyle/>
                    <a:p>
                      <a:pPr algn="ctr">
                        <a:buNone/>
                      </a:pPr>
                      <a:r>
                        <a:rPr lang="en-IN" sz="1600"/>
                        <a:t>name</a:t>
                      </a:r>
                    </a:p>
                  </a:txBody>
                  <a:tcPr anchor="ctr"/>
                </a:tc>
                <a:tc>
                  <a:txBody>
                    <a:bodyPr/>
                    <a:lstStyle/>
                    <a:p>
                      <a:pPr algn="ctr">
                        <a:buNone/>
                      </a:pPr>
                      <a:r>
                        <a:rPr lang="en-IN" sz="1600"/>
                        <a:t>VARCHAR(100)</a:t>
                      </a:r>
                    </a:p>
                  </a:txBody>
                  <a:tcPr anchor="ctr"/>
                </a:tc>
                <a:extLst>
                  <a:ext uri="{0D108BD9-81ED-4DB2-BD59-A6C34878D82A}">
                    <a16:rowId xmlns:a16="http://schemas.microsoft.com/office/drawing/2014/main" val="2581475445"/>
                  </a:ext>
                </a:extLst>
              </a:tr>
              <a:tr h="325417">
                <a:tc>
                  <a:txBody>
                    <a:bodyPr/>
                    <a:lstStyle/>
                    <a:p>
                      <a:pPr algn="ctr">
                        <a:buNone/>
                      </a:pPr>
                      <a:endParaRPr lang="en-IN" sz="1600"/>
                    </a:p>
                  </a:txBody>
                  <a:tcPr anchor="ctr"/>
                </a:tc>
                <a:tc>
                  <a:txBody>
                    <a:bodyPr/>
                    <a:lstStyle/>
                    <a:p>
                      <a:pPr algn="ctr">
                        <a:buNone/>
                      </a:pPr>
                      <a:r>
                        <a:rPr lang="en-IN" sz="1600"/>
                        <a:t>description</a:t>
                      </a:r>
                    </a:p>
                  </a:txBody>
                  <a:tcPr anchor="ctr"/>
                </a:tc>
                <a:tc>
                  <a:txBody>
                    <a:bodyPr/>
                    <a:lstStyle/>
                    <a:p>
                      <a:pPr algn="ctr">
                        <a:buNone/>
                      </a:pPr>
                      <a:r>
                        <a:rPr lang="en-IN" sz="1600"/>
                        <a:t>TEXT</a:t>
                      </a:r>
                    </a:p>
                  </a:txBody>
                  <a:tcPr anchor="ctr"/>
                </a:tc>
                <a:extLst>
                  <a:ext uri="{0D108BD9-81ED-4DB2-BD59-A6C34878D82A}">
                    <a16:rowId xmlns:a16="http://schemas.microsoft.com/office/drawing/2014/main" val="1303011255"/>
                  </a:ext>
                </a:extLst>
              </a:tr>
              <a:tr h="325417">
                <a:tc>
                  <a:txBody>
                    <a:bodyPr/>
                    <a:lstStyle/>
                    <a:p>
                      <a:pPr algn="ctr">
                        <a:buNone/>
                      </a:pPr>
                      <a:endParaRPr lang="en-IN" sz="1600"/>
                    </a:p>
                  </a:txBody>
                  <a:tcPr anchor="ctr"/>
                </a:tc>
                <a:tc>
                  <a:txBody>
                    <a:bodyPr/>
                    <a:lstStyle/>
                    <a:p>
                      <a:pPr algn="ctr">
                        <a:buNone/>
                      </a:pPr>
                      <a:r>
                        <a:rPr lang="en-IN" sz="1600"/>
                        <a:t>salaryrange</a:t>
                      </a:r>
                    </a:p>
                  </a:txBody>
                  <a:tcPr anchor="ctr"/>
                </a:tc>
                <a:tc>
                  <a:txBody>
                    <a:bodyPr/>
                    <a:lstStyle/>
                    <a:p>
                      <a:pPr algn="ctr">
                        <a:buNone/>
                      </a:pPr>
                      <a:r>
                        <a:rPr lang="en-IN" sz="1600"/>
                        <a:t>VARCHAR(50)</a:t>
                      </a:r>
                    </a:p>
                  </a:txBody>
                  <a:tcPr anchor="ctr"/>
                </a:tc>
                <a:extLst>
                  <a:ext uri="{0D108BD9-81ED-4DB2-BD59-A6C34878D82A}">
                    <a16:rowId xmlns:a16="http://schemas.microsoft.com/office/drawing/2014/main" val="661388823"/>
                  </a:ext>
                </a:extLst>
              </a:tr>
              <a:tr h="325417">
                <a:tc>
                  <a:txBody>
                    <a:bodyPr/>
                    <a:lstStyle/>
                    <a:p>
                      <a:pPr algn="ctr">
                        <a:buNone/>
                      </a:pPr>
                      <a:r>
                        <a:rPr lang="en-IN" sz="1600" b="1"/>
                        <a:t>Employee</a:t>
                      </a:r>
                      <a:endParaRPr lang="en-IN" sz="1600"/>
                    </a:p>
                  </a:txBody>
                  <a:tcPr anchor="ctr"/>
                </a:tc>
                <a:tc>
                  <a:txBody>
                    <a:bodyPr/>
                    <a:lstStyle/>
                    <a:p>
                      <a:pPr algn="ctr">
                        <a:buNone/>
                      </a:pPr>
                      <a:r>
                        <a:rPr lang="en-IN" sz="1600"/>
                        <a:t>emp_ID</a:t>
                      </a:r>
                    </a:p>
                  </a:txBody>
                  <a:tcPr anchor="ctr"/>
                </a:tc>
                <a:tc>
                  <a:txBody>
                    <a:bodyPr/>
                    <a:lstStyle/>
                    <a:p>
                      <a:pPr algn="ctr">
                        <a:buNone/>
                      </a:pPr>
                      <a:r>
                        <a:rPr lang="en-IN" sz="1600"/>
                        <a:t>INT</a:t>
                      </a:r>
                    </a:p>
                  </a:txBody>
                  <a:tcPr anchor="ctr"/>
                </a:tc>
                <a:extLst>
                  <a:ext uri="{0D108BD9-81ED-4DB2-BD59-A6C34878D82A}">
                    <a16:rowId xmlns:a16="http://schemas.microsoft.com/office/drawing/2014/main" val="1260700229"/>
                  </a:ext>
                </a:extLst>
              </a:tr>
              <a:tr h="325417">
                <a:tc>
                  <a:txBody>
                    <a:bodyPr/>
                    <a:lstStyle/>
                    <a:p>
                      <a:pPr algn="ctr">
                        <a:buNone/>
                      </a:pPr>
                      <a:endParaRPr lang="en-IN" sz="1600"/>
                    </a:p>
                  </a:txBody>
                  <a:tcPr anchor="ctr"/>
                </a:tc>
                <a:tc>
                  <a:txBody>
                    <a:bodyPr/>
                    <a:lstStyle/>
                    <a:p>
                      <a:pPr algn="ctr">
                        <a:buNone/>
                      </a:pPr>
                      <a:r>
                        <a:rPr lang="en-IN" sz="1600"/>
                        <a:t>Job_ID</a:t>
                      </a:r>
                    </a:p>
                  </a:txBody>
                  <a:tcPr anchor="ctr"/>
                </a:tc>
                <a:tc>
                  <a:txBody>
                    <a:bodyPr/>
                    <a:lstStyle/>
                    <a:p>
                      <a:pPr algn="ctr">
                        <a:buNone/>
                      </a:pPr>
                      <a:r>
                        <a:rPr lang="en-IN" sz="1600"/>
                        <a:t>INT</a:t>
                      </a:r>
                    </a:p>
                  </a:txBody>
                  <a:tcPr anchor="ctr"/>
                </a:tc>
                <a:extLst>
                  <a:ext uri="{0D108BD9-81ED-4DB2-BD59-A6C34878D82A}">
                    <a16:rowId xmlns:a16="http://schemas.microsoft.com/office/drawing/2014/main" val="3893538968"/>
                  </a:ext>
                </a:extLst>
              </a:tr>
              <a:tr h="325417">
                <a:tc>
                  <a:txBody>
                    <a:bodyPr/>
                    <a:lstStyle/>
                    <a:p>
                      <a:pPr algn="ctr">
                        <a:buNone/>
                      </a:pPr>
                      <a:endParaRPr lang="en-IN" sz="1600"/>
                    </a:p>
                  </a:txBody>
                  <a:tcPr anchor="ctr"/>
                </a:tc>
                <a:tc>
                  <a:txBody>
                    <a:bodyPr/>
                    <a:lstStyle/>
                    <a:p>
                      <a:pPr algn="ctr">
                        <a:buNone/>
                      </a:pPr>
                      <a:r>
                        <a:rPr lang="en-IN" sz="1600"/>
                        <a:t>name</a:t>
                      </a:r>
                    </a:p>
                  </a:txBody>
                  <a:tcPr anchor="ctr"/>
                </a:tc>
                <a:tc>
                  <a:txBody>
                    <a:bodyPr/>
                    <a:lstStyle/>
                    <a:p>
                      <a:pPr algn="ctr">
                        <a:buNone/>
                      </a:pPr>
                      <a:r>
                        <a:rPr lang="en-IN" sz="1600"/>
                        <a:t>VARCHAR(100)</a:t>
                      </a:r>
                    </a:p>
                  </a:txBody>
                  <a:tcPr anchor="ctr"/>
                </a:tc>
                <a:extLst>
                  <a:ext uri="{0D108BD9-81ED-4DB2-BD59-A6C34878D82A}">
                    <a16:rowId xmlns:a16="http://schemas.microsoft.com/office/drawing/2014/main" val="324996347"/>
                  </a:ext>
                </a:extLst>
              </a:tr>
              <a:tr h="325417">
                <a:tc>
                  <a:txBody>
                    <a:bodyPr/>
                    <a:lstStyle/>
                    <a:p>
                      <a:pPr algn="ctr">
                        <a:buNone/>
                      </a:pPr>
                      <a:endParaRPr lang="en-IN" sz="1600"/>
                    </a:p>
                  </a:txBody>
                  <a:tcPr anchor="ctr"/>
                </a:tc>
                <a:tc>
                  <a:txBody>
                    <a:bodyPr/>
                    <a:lstStyle/>
                    <a:p>
                      <a:pPr algn="ctr">
                        <a:buNone/>
                      </a:pPr>
                      <a:r>
                        <a:rPr lang="en-IN" sz="1600"/>
                        <a:t>gender</a:t>
                      </a:r>
                    </a:p>
                  </a:txBody>
                  <a:tcPr anchor="ctr"/>
                </a:tc>
                <a:tc>
                  <a:txBody>
                    <a:bodyPr/>
                    <a:lstStyle/>
                    <a:p>
                      <a:pPr algn="ctr">
                        <a:buNone/>
                      </a:pPr>
                      <a:r>
                        <a:rPr lang="en-IN" sz="1600"/>
                        <a:t>VARCHAR(20)</a:t>
                      </a:r>
                    </a:p>
                  </a:txBody>
                  <a:tcPr anchor="ctr"/>
                </a:tc>
                <a:extLst>
                  <a:ext uri="{0D108BD9-81ED-4DB2-BD59-A6C34878D82A}">
                    <a16:rowId xmlns:a16="http://schemas.microsoft.com/office/drawing/2014/main" val="2470526128"/>
                  </a:ext>
                </a:extLst>
              </a:tr>
              <a:tr h="325417">
                <a:tc>
                  <a:txBody>
                    <a:bodyPr/>
                    <a:lstStyle/>
                    <a:p>
                      <a:pPr algn="ctr">
                        <a:buNone/>
                      </a:pPr>
                      <a:endParaRPr lang="en-IN" sz="1600"/>
                    </a:p>
                  </a:txBody>
                  <a:tcPr anchor="ctr"/>
                </a:tc>
                <a:tc>
                  <a:txBody>
                    <a:bodyPr/>
                    <a:lstStyle/>
                    <a:p>
                      <a:pPr algn="ctr">
                        <a:buNone/>
                      </a:pPr>
                      <a:r>
                        <a:rPr lang="en-IN" sz="1600"/>
                        <a:t>email</a:t>
                      </a:r>
                    </a:p>
                  </a:txBody>
                  <a:tcPr anchor="ctr"/>
                </a:tc>
                <a:tc>
                  <a:txBody>
                    <a:bodyPr/>
                    <a:lstStyle/>
                    <a:p>
                      <a:pPr algn="ctr">
                        <a:buNone/>
                      </a:pPr>
                      <a:r>
                        <a:rPr lang="en-IN" sz="1600" dirty="0"/>
                        <a:t>VARCHAR(100)</a:t>
                      </a:r>
                    </a:p>
                  </a:txBody>
                  <a:tcPr anchor="ctr"/>
                </a:tc>
                <a:extLst>
                  <a:ext uri="{0D108BD9-81ED-4DB2-BD59-A6C34878D82A}">
                    <a16:rowId xmlns:a16="http://schemas.microsoft.com/office/drawing/2014/main" val="247719608"/>
                  </a:ext>
                </a:extLst>
              </a:tr>
              <a:tr h="325417">
                <a:tc>
                  <a:txBody>
                    <a:bodyPr/>
                    <a:lstStyle/>
                    <a:p>
                      <a:pPr algn="ctr">
                        <a:buNone/>
                      </a:pPr>
                      <a:endParaRPr lang="en-IN" sz="1600"/>
                    </a:p>
                  </a:txBody>
                  <a:tcPr anchor="ctr"/>
                </a:tc>
                <a:tc>
                  <a:txBody>
                    <a:bodyPr/>
                    <a:lstStyle/>
                    <a:p>
                      <a:pPr algn="ctr">
                        <a:buNone/>
                      </a:pPr>
                      <a:r>
                        <a:rPr lang="en-IN" sz="1600"/>
                        <a:t>phone</a:t>
                      </a:r>
                    </a:p>
                  </a:txBody>
                  <a:tcPr anchor="ctr"/>
                </a:tc>
                <a:tc>
                  <a:txBody>
                    <a:bodyPr/>
                    <a:lstStyle/>
                    <a:p>
                      <a:pPr algn="ctr">
                        <a:buNone/>
                      </a:pPr>
                      <a:r>
                        <a:rPr lang="en-IN" sz="1600"/>
                        <a:t>VARCHAR(15)</a:t>
                      </a:r>
                    </a:p>
                  </a:txBody>
                  <a:tcPr anchor="ctr"/>
                </a:tc>
                <a:extLst>
                  <a:ext uri="{0D108BD9-81ED-4DB2-BD59-A6C34878D82A}">
                    <a16:rowId xmlns:a16="http://schemas.microsoft.com/office/drawing/2014/main" val="3880690427"/>
                  </a:ext>
                </a:extLst>
              </a:tr>
              <a:tr h="325417">
                <a:tc>
                  <a:txBody>
                    <a:bodyPr/>
                    <a:lstStyle/>
                    <a:p>
                      <a:pPr algn="ctr">
                        <a:buNone/>
                      </a:pPr>
                      <a:r>
                        <a:rPr lang="en-IN" sz="1600" b="1"/>
                        <a:t>SalaryBonus</a:t>
                      </a:r>
                      <a:endParaRPr lang="en-IN" sz="1600"/>
                    </a:p>
                  </a:txBody>
                  <a:tcPr anchor="ctr"/>
                </a:tc>
                <a:tc>
                  <a:txBody>
                    <a:bodyPr/>
                    <a:lstStyle/>
                    <a:p>
                      <a:pPr algn="ctr">
                        <a:buNone/>
                      </a:pPr>
                      <a:r>
                        <a:rPr lang="en-IN" sz="1600"/>
                        <a:t>salary_ID</a:t>
                      </a:r>
                    </a:p>
                  </a:txBody>
                  <a:tcPr anchor="ctr"/>
                </a:tc>
                <a:tc>
                  <a:txBody>
                    <a:bodyPr/>
                    <a:lstStyle/>
                    <a:p>
                      <a:pPr algn="ctr">
                        <a:buNone/>
                      </a:pPr>
                      <a:r>
                        <a:rPr lang="en-IN" sz="1600"/>
                        <a:t>INT</a:t>
                      </a:r>
                    </a:p>
                  </a:txBody>
                  <a:tcPr anchor="ctr"/>
                </a:tc>
                <a:extLst>
                  <a:ext uri="{0D108BD9-81ED-4DB2-BD59-A6C34878D82A}">
                    <a16:rowId xmlns:a16="http://schemas.microsoft.com/office/drawing/2014/main" val="3602256065"/>
                  </a:ext>
                </a:extLst>
              </a:tr>
              <a:tr h="325417">
                <a:tc>
                  <a:txBody>
                    <a:bodyPr/>
                    <a:lstStyle/>
                    <a:p>
                      <a:pPr algn="ctr">
                        <a:buNone/>
                      </a:pPr>
                      <a:endParaRPr lang="en-IN" sz="1600"/>
                    </a:p>
                  </a:txBody>
                  <a:tcPr anchor="ctr"/>
                </a:tc>
                <a:tc>
                  <a:txBody>
                    <a:bodyPr/>
                    <a:lstStyle/>
                    <a:p>
                      <a:pPr algn="ctr">
                        <a:buNone/>
                      </a:pPr>
                      <a:r>
                        <a:rPr lang="en-IN" sz="1600"/>
                        <a:t>emp_ID</a:t>
                      </a:r>
                    </a:p>
                  </a:txBody>
                  <a:tcPr anchor="ctr"/>
                </a:tc>
                <a:tc>
                  <a:txBody>
                    <a:bodyPr/>
                    <a:lstStyle/>
                    <a:p>
                      <a:pPr algn="ctr">
                        <a:buNone/>
                      </a:pPr>
                      <a:r>
                        <a:rPr lang="en-IN" sz="1600"/>
                        <a:t>INT</a:t>
                      </a:r>
                    </a:p>
                  </a:txBody>
                  <a:tcPr anchor="ctr"/>
                </a:tc>
                <a:extLst>
                  <a:ext uri="{0D108BD9-81ED-4DB2-BD59-A6C34878D82A}">
                    <a16:rowId xmlns:a16="http://schemas.microsoft.com/office/drawing/2014/main" val="2379266506"/>
                  </a:ext>
                </a:extLst>
              </a:tr>
              <a:tr h="325417">
                <a:tc>
                  <a:txBody>
                    <a:bodyPr/>
                    <a:lstStyle/>
                    <a:p>
                      <a:pPr algn="ctr">
                        <a:buNone/>
                      </a:pPr>
                      <a:endParaRPr lang="en-IN" sz="1600"/>
                    </a:p>
                  </a:txBody>
                  <a:tcPr anchor="ctr"/>
                </a:tc>
                <a:tc>
                  <a:txBody>
                    <a:bodyPr/>
                    <a:lstStyle/>
                    <a:p>
                      <a:pPr algn="ctr">
                        <a:buNone/>
                      </a:pPr>
                      <a:r>
                        <a:rPr lang="en-IN" sz="1600"/>
                        <a:t>salary</a:t>
                      </a:r>
                    </a:p>
                  </a:txBody>
                  <a:tcPr anchor="ctr"/>
                </a:tc>
                <a:tc>
                  <a:txBody>
                    <a:bodyPr/>
                    <a:lstStyle/>
                    <a:p>
                      <a:pPr algn="ctr">
                        <a:buNone/>
                      </a:pPr>
                      <a:r>
                        <a:rPr lang="en-IN" sz="1600"/>
                        <a:t>DECIMAL(10,2)</a:t>
                      </a:r>
                    </a:p>
                  </a:txBody>
                  <a:tcPr anchor="ctr"/>
                </a:tc>
                <a:extLst>
                  <a:ext uri="{0D108BD9-81ED-4DB2-BD59-A6C34878D82A}">
                    <a16:rowId xmlns:a16="http://schemas.microsoft.com/office/drawing/2014/main" val="3916309135"/>
                  </a:ext>
                </a:extLst>
              </a:tr>
              <a:tr h="325417">
                <a:tc>
                  <a:txBody>
                    <a:bodyPr/>
                    <a:lstStyle/>
                    <a:p>
                      <a:pPr algn="ctr">
                        <a:buNone/>
                      </a:pPr>
                      <a:endParaRPr lang="en-IN" sz="1600"/>
                    </a:p>
                  </a:txBody>
                  <a:tcPr anchor="ctr"/>
                </a:tc>
                <a:tc>
                  <a:txBody>
                    <a:bodyPr/>
                    <a:lstStyle/>
                    <a:p>
                      <a:pPr algn="ctr">
                        <a:buNone/>
                      </a:pPr>
                      <a:r>
                        <a:rPr lang="en-IN" sz="1600"/>
                        <a:t>bonus</a:t>
                      </a:r>
                    </a:p>
                  </a:txBody>
                  <a:tcPr anchor="ctr"/>
                </a:tc>
                <a:tc>
                  <a:txBody>
                    <a:bodyPr/>
                    <a:lstStyle/>
                    <a:p>
                      <a:pPr algn="ctr">
                        <a:buNone/>
                      </a:pPr>
                      <a:r>
                        <a:rPr lang="en-IN" sz="1600" dirty="0"/>
                        <a:t>DECIMAL(10,2)A</a:t>
                      </a:r>
                    </a:p>
                  </a:txBody>
                  <a:tcPr anchor="ctr"/>
                </a:tc>
                <a:extLst>
                  <a:ext uri="{0D108BD9-81ED-4DB2-BD59-A6C34878D82A}">
                    <a16:rowId xmlns:a16="http://schemas.microsoft.com/office/drawing/2014/main" val="3210716759"/>
                  </a:ext>
                </a:extLst>
              </a:tr>
            </a:tbl>
          </a:graphicData>
        </a:graphic>
      </p:graphicFrame>
      <p:sp>
        <p:nvSpPr>
          <p:cNvPr id="3" name="TextBox 2">
            <a:extLst>
              <a:ext uri="{FF2B5EF4-FFF2-40B4-BE49-F238E27FC236}">
                <a16:creationId xmlns:a16="http://schemas.microsoft.com/office/drawing/2014/main" id="{41745D99-8F31-ADE2-028C-84737A6A069F}"/>
              </a:ext>
            </a:extLst>
          </p:cNvPr>
          <p:cNvSpPr txBox="1"/>
          <p:nvPr/>
        </p:nvSpPr>
        <p:spPr>
          <a:xfrm>
            <a:off x="1750142" y="192842"/>
            <a:ext cx="8967019" cy="400110"/>
          </a:xfrm>
          <a:prstGeom prst="rect">
            <a:avLst/>
          </a:prstGeom>
          <a:noFill/>
        </p:spPr>
        <p:txBody>
          <a:bodyPr wrap="square" rtlCol="0">
            <a:spAutoFit/>
          </a:bodyPr>
          <a:lstStyle/>
          <a:p>
            <a:pPr algn="ctr"/>
            <a:r>
              <a:rPr lang="en-US" sz="2000" b="1" dirty="0">
                <a:solidFill>
                  <a:srgbClr val="FF0000"/>
                </a:solidFill>
              </a:rPr>
              <a:t>Data</a:t>
            </a:r>
            <a:r>
              <a:rPr lang="en-US" sz="2000" b="1" dirty="0">
                <a:solidFill>
                  <a:srgbClr val="C00000"/>
                </a:solidFill>
              </a:rPr>
              <a:t>  </a:t>
            </a:r>
            <a:r>
              <a:rPr lang="en-US" sz="2000" b="1" dirty="0">
                <a:solidFill>
                  <a:srgbClr val="FF0000"/>
                </a:solidFill>
              </a:rPr>
              <a:t>Description</a:t>
            </a:r>
            <a:endParaRPr lang="en-IN" sz="2000" b="1" dirty="0">
              <a:solidFill>
                <a:srgbClr val="FF0000"/>
              </a:solidFill>
            </a:endParaRPr>
          </a:p>
        </p:txBody>
      </p:sp>
    </p:spTree>
    <p:extLst>
      <p:ext uri="{BB962C8B-B14F-4D97-AF65-F5344CB8AC3E}">
        <p14:creationId xmlns:p14="http://schemas.microsoft.com/office/powerpoint/2010/main" val="3047664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8E4D0B1-A937-D241-4143-D3F351A7B20C}"/>
              </a:ext>
            </a:extLst>
          </p:cNvPr>
          <p:cNvGraphicFramePr>
            <a:graphicFrameLocks noGrp="1"/>
          </p:cNvGraphicFramePr>
          <p:nvPr>
            <p:extLst>
              <p:ext uri="{D42A27DB-BD31-4B8C-83A1-F6EECF244321}">
                <p14:modId xmlns:p14="http://schemas.microsoft.com/office/powerpoint/2010/main" val="4168752718"/>
              </p:ext>
            </p:extLst>
          </p:nvPr>
        </p:nvGraphicFramePr>
        <p:xfrm>
          <a:off x="668595" y="719664"/>
          <a:ext cx="10658166" cy="5366508"/>
        </p:xfrm>
        <a:graphic>
          <a:graphicData uri="http://schemas.openxmlformats.org/drawingml/2006/table">
            <a:tbl>
              <a:tblPr firstRow="1" bandRow="1">
                <a:tableStyleId>{5C22544A-7EE6-4342-B048-85BDC9FD1C3A}</a:tableStyleId>
              </a:tblPr>
              <a:tblGrid>
                <a:gridCol w="1990426">
                  <a:extLst>
                    <a:ext uri="{9D8B030D-6E8A-4147-A177-3AD203B41FA5}">
                      <a16:colId xmlns:a16="http://schemas.microsoft.com/office/drawing/2014/main" val="3886937420"/>
                    </a:ext>
                  </a:extLst>
                </a:gridCol>
                <a:gridCol w="4333870">
                  <a:extLst>
                    <a:ext uri="{9D8B030D-6E8A-4147-A177-3AD203B41FA5}">
                      <a16:colId xmlns:a16="http://schemas.microsoft.com/office/drawing/2014/main" val="2556260761"/>
                    </a:ext>
                  </a:extLst>
                </a:gridCol>
                <a:gridCol w="4333870">
                  <a:extLst>
                    <a:ext uri="{9D8B030D-6E8A-4147-A177-3AD203B41FA5}">
                      <a16:colId xmlns:a16="http://schemas.microsoft.com/office/drawing/2014/main" val="2852309667"/>
                    </a:ext>
                  </a:extLst>
                </a:gridCol>
              </a:tblGrid>
              <a:tr h="447209">
                <a:tc>
                  <a:txBody>
                    <a:bodyPr/>
                    <a:lstStyle/>
                    <a:p>
                      <a:pPr algn="ctr"/>
                      <a:r>
                        <a:rPr lang="en-US" dirty="0"/>
                        <a:t>Table Name</a:t>
                      </a:r>
                      <a:endParaRPr lang="en-IN" dirty="0"/>
                    </a:p>
                  </a:txBody>
                  <a:tcPr/>
                </a:tc>
                <a:tc>
                  <a:txBody>
                    <a:bodyPr/>
                    <a:lstStyle/>
                    <a:p>
                      <a:pPr algn="ctr"/>
                      <a:r>
                        <a:rPr lang="en-US" dirty="0"/>
                        <a:t>Column Name</a:t>
                      </a:r>
                      <a:endParaRPr lang="en-IN" dirty="0"/>
                    </a:p>
                  </a:txBody>
                  <a:tcPr/>
                </a:tc>
                <a:tc>
                  <a:txBody>
                    <a:bodyPr/>
                    <a:lstStyle/>
                    <a:p>
                      <a:pPr algn="ctr"/>
                      <a:r>
                        <a:rPr lang="en-US" dirty="0"/>
                        <a:t>Data Type</a:t>
                      </a:r>
                      <a:endParaRPr lang="en-IN" dirty="0"/>
                    </a:p>
                  </a:txBody>
                  <a:tcPr/>
                </a:tc>
                <a:extLst>
                  <a:ext uri="{0D108BD9-81ED-4DB2-BD59-A6C34878D82A}">
                    <a16:rowId xmlns:a16="http://schemas.microsoft.com/office/drawing/2014/main" val="673191919"/>
                  </a:ext>
                </a:extLst>
              </a:tr>
              <a:tr h="447209">
                <a:tc>
                  <a:txBody>
                    <a:bodyPr/>
                    <a:lstStyle/>
                    <a:p>
                      <a:pPr algn="ctr">
                        <a:buNone/>
                      </a:pPr>
                      <a:r>
                        <a:rPr lang="en-IN" b="1" dirty="0"/>
                        <a:t>Qualification</a:t>
                      </a:r>
                      <a:endParaRPr lang="en-IN" dirty="0"/>
                    </a:p>
                  </a:txBody>
                  <a:tcPr anchor="ctr"/>
                </a:tc>
                <a:tc>
                  <a:txBody>
                    <a:bodyPr/>
                    <a:lstStyle/>
                    <a:p>
                      <a:pPr algn="ctr">
                        <a:buNone/>
                      </a:pPr>
                      <a:r>
                        <a:rPr lang="en-IN"/>
                        <a:t>qualification_ID</a:t>
                      </a:r>
                    </a:p>
                  </a:txBody>
                  <a:tcPr anchor="ctr"/>
                </a:tc>
                <a:tc>
                  <a:txBody>
                    <a:bodyPr/>
                    <a:lstStyle/>
                    <a:p>
                      <a:pPr algn="ctr">
                        <a:buNone/>
                      </a:pPr>
                      <a:r>
                        <a:rPr lang="en-IN" dirty="0"/>
                        <a:t>INT</a:t>
                      </a:r>
                    </a:p>
                  </a:txBody>
                  <a:tcPr anchor="ctr"/>
                </a:tc>
                <a:extLst>
                  <a:ext uri="{0D108BD9-81ED-4DB2-BD59-A6C34878D82A}">
                    <a16:rowId xmlns:a16="http://schemas.microsoft.com/office/drawing/2014/main" val="4127250326"/>
                  </a:ext>
                </a:extLst>
              </a:tr>
              <a:tr h="447209">
                <a:tc>
                  <a:txBody>
                    <a:bodyPr/>
                    <a:lstStyle/>
                    <a:p>
                      <a:pPr algn="ctr"/>
                      <a:endParaRPr lang="en-IN" dirty="0"/>
                    </a:p>
                  </a:txBody>
                  <a:tcPr/>
                </a:tc>
                <a:tc>
                  <a:txBody>
                    <a:bodyPr/>
                    <a:lstStyle/>
                    <a:p>
                      <a:pPr algn="ctr">
                        <a:buNone/>
                      </a:pPr>
                      <a:r>
                        <a:rPr lang="en-IN" dirty="0"/>
                        <a:t>emp_ID</a:t>
                      </a:r>
                    </a:p>
                  </a:txBody>
                  <a:tcPr anchor="ctr"/>
                </a:tc>
                <a:tc>
                  <a:txBody>
                    <a:bodyPr/>
                    <a:lstStyle/>
                    <a:p>
                      <a:pPr algn="ctr">
                        <a:buNone/>
                      </a:pPr>
                      <a:r>
                        <a:rPr lang="en-IN" dirty="0"/>
                        <a:t>INT</a:t>
                      </a:r>
                    </a:p>
                  </a:txBody>
                  <a:tcPr anchor="ctr"/>
                </a:tc>
                <a:extLst>
                  <a:ext uri="{0D108BD9-81ED-4DB2-BD59-A6C34878D82A}">
                    <a16:rowId xmlns:a16="http://schemas.microsoft.com/office/drawing/2014/main" val="1684389634"/>
                  </a:ext>
                </a:extLst>
              </a:tr>
              <a:tr h="447209">
                <a:tc>
                  <a:txBody>
                    <a:bodyPr/>
                    <a:lstStyle/>
                    <a:p>
                      <a:pPr algn="ctr"/>
                      <a:endParaRPr lang="en-IN"/>
                    </a:p>
                  </a:txBody>
                  <a:tcPr/>
                </a:tc>
                <a:tc>
                  <a:txBody>
                    <a:bodyPr/>
                    <a:lstStyle/>
                    <a:p>
                      <a:pPr algn="ctr">
                        <a:buNone/>
                      </a:pPr>
                      <a:r>
                        <a:rPr lang="en-IN" dirty="0"/>
                        <a:t>qualification</a:t>
                      </a:r>
                    </a:p>
                  </a:txBody>
                  <a:tcPr anchor="ctr"/>
                </a:tc>
                <a:tc>
                  <a:txBody>
                    <a:bodyPr/>
                    <a:lstStyle/>
                    <a:p>
                      <a:pPr algn="ctr"/>
                      <a:r>
                        <a:rPr lang="en-US" dirty="0"/>
                        <a:t>VARCHAR(100)</a:t>
                      </a:r>
                      <a:endParaRPr lang="en-IN" dirty="0"/>
                    </a:p>
                  </a:txBody>
                  <a:tcPr/>
                </a:tc>
                <a:extLst>
                  <a:ext uri="{0D108BD9-81ED-4DB2-BD59-A6C34878D82A}">
                    <a16:rowId xmlns:a16="http://schemas.microsoft.com/office/drawing/2014/main" val="2110538713"/>
                  </a:ext>
                </a:extLst>
              </a:tr>
              <a:tr h="447209">
                <a:tc>
                  <a:txBody>
                    <a:bodyPr/>
                    <a:lstStyle/>
                    <a:p>
                      <a:pPr algn="ctr"/>
                      <a:endParaRPr lang="en-IN" dirty="0"/>
                    </a:p>
                  </a:txBody>
                  <a:tcPr/>
                </a:tc>
                <a:tc>
                  <a:txBody>
                    <a:bodyPr/>
                    <a:lstStyle/>
                    <a:p>
                      <a:pPr algn="ctr"/>
                      <a:r>
                        <a:rPr lang="en-US" dirty="0"/>
                        <a:t>institution</a:t>
                      </a:r>
                      <a:endParaRPr lang="en-IN" dirty="0"/>
                    </a:p>
                  </a:txBody>
                  <a:tcPr/>
                </a:tc>
                <a:tc>
                  <a:txBody>
                    <a:bodyPr/>
                    <a:lstStyle/>
                    <a:p>
                      <a:pPr algn="ctr"/>
                      <a:r>
                        <a:rPr lang="en-IN" dirty="0"/>
                        <a:t>VARCHAR(100)</a:t>
                      </a:r>
                    </a:p>
                  </a:txBody>
                  <a:tcPr/>
                </a:tc>
                <a:extLst>
                  <a:ext uri="{0D108BD9-81ED-4DB2-BD59-A6C34878D82A}">
                    <a16:rowId xmlns:a16="http://schemas.microsoft.com/office/drawing/2014/main" val="2212961399"/>
                  </a:ext>
                </a:extLst>
              </a:tr>
              <a:tr h="447209">
                <a:tc>
                  <a:txBody>
                    <a:bodyPr/>
                    <a:lstStyle/>
                    <a:p>
                      <a:pPr algn="ctr"/>
                      <a:endParaRPr lang="en-IN"/>
                    </a:p>
                  </a:txBody>
                  <a:tcPr/>
                </a:tc>
                <a:tc>
                  <a:txBody>
                    <a:bodyPr/>
                    <a:lstStyle/>
                    <a:p>
                      <a:pPr algn="ctr"/>
                      <a:r>
                        <a:rPr lang="en-US" dirty="0"/>
                        <a:t>year</a:t>
                      </a:r>
                      <a:endParaRPr lang="en-IN" dirty="0"/>
                    </a:p>
                  </a:txBody>
                  <a:tcPr/>
                </a:tc>
                <a:tc>
                  <a:txBody>
                    <a:bodyPr/>
                    <a:lstStyle/>
                    <a:p>
                      <a:pPr algn="ctr"/>
                      <a:r>
                        <a:rPr lang="en-US" dirty="0"/>
                        <a:t>YEAR</a:t>
                      </a:r>
                      <a:endParaRPr lang="en-IN" dirty="0"/>
                    </a:p>
                  </a:txBody>
                  <a:tcPr/>
                </a:tc>
                <a:extLst>
                  <a:ext uri="{0D108BD9-81ED-4DB2-BD59-A6C34878D82A}">
                    <a16:rowId xmlns:a16="http://schemas.microsoft.com/office/drawing/2014/main" val="4242846088"/>
                  </a:ext>
                </a:extLst>
              </a:tr>
              <a:tr h="447209">
                <a:tc>
                  <a:txBody>
                    <a:bodyPr/>
                    <a:lstStyle/>
                    <a:p>
                      <a:pPr algn="ctr"/>
                      <a:r>
                        <a:rPr lang="en-US" b="1" dirty="0"/>
                        <a:t>Leaves</a:t>
                      </a:r>
                      <a:endParaRPr lang="en-IN" b="1" dirty="0"/>
                    </a:p>
                  </a:txBody>
                  <a:tcPr/>
                </a:tc>
                <a:tc>
                  <a:txBody>
                    <a:bodyPr/>
                    <a:lstStyle/>
                    <a:p>
                      <a:pPr algn="ctr"/>
                      <a:r>
                        <a:rPr lang="en-US" dirty="0"/>
                        <a:t>Leaves_ID</a:t>
                      </a:r>
                      <a:endParaRPr lang="en-IN" dirty="0"/>
                    </a:p>
                  </a:txBody>
                  <a:tcPr/>
                </a:tc>
                <a:tc>
                  <a:txBody>
                    <a:bodyPr/>
                    <a:lstStyle/>
                    <a:p>
                      <a:pPr algn="ctr"/>
                      <a:r>
                        <a:rPr lang="en-US" dirty="0"/>
                        <a:t>INT</a:t>
                      </a:r>
                      <a:endParaRPr lang="en-IN" dirty="0"/>
                    </a:p>
                  </a:txBody>
                  <a:tcPr/>
                </a:tc>
                <a:extLst>
                  <a:ext uri="{0D108BD9-81ED-4DB2-BD59-A6C34878D82A}">
                    <a16:rowId xmlns:a16="http://schemas.microsoft.com/office/drawing/2014/main" val="233137050"/>
                  </a:ext>
                </a:extLst>
              </a:tr>
              <a:tr h="447209">
                <a:tc>
                  <a:txBody>
                    <a:bodyPr/>
                    <a:lstStyle/>
                    <a:p>
                      <a:pPr algn="ctr"/>
                      <a:endParaRPr lang="en-IN"/>
                    </a:p>
                  </a:txBody>
                  <a:tcPr/>
                </a:tc>
                <a:tc>
                  <a:txBody>
                    <a:bodyPr/>
                    <a:lstStyle/>
                    <a:p>
                      <a:pPr algn="ctr"/>
                      <a:r>
                        <a:rPr lang="en-US" dirty="0"/>
                        <a:t>Emp_ID</a:t>
                      </a:r>
                      <a:endParaRPr lang="en-IN" dirty="0"/>
                    </a:p>
                  </a:txBody>
                  <a:tcPr/>
                </a:tc>
                <a:tc>
                  <a:txBody>
                    <a:bodyPr/>
                    <a:lstStyle/>
                    <a:p>
                      <a:pPr algn="ctr"/>
                      <a:r>
                        <a:rPr lang="en-US" dirty="0"/>
                        <a:t>INT</a:t>
                      </a:r>
                      <a:endParaRPr lang="en-IN" dirty="0"/>
                    </a:p>
                  </a:txBody>
                  <a:tcPr/>
                </a:tc>
                <a:extLst>
                  <a:ext uri="{0D108BD9-81ED-4DB2-BD59-A6C34878D82A}">
                    <a16:rowId xmlns:a16="http://schemas.microsoft.com/office/drawing/2014/main" val="1840641649"/>
                  </a:ext>
                </a:extLst>
              </a:tr>
              <a:tr h="447209">
                <a:tc>
                  <a:txBody>
                    <a:bodyPr/>
                    <a:lstStyle/>
                    <a:p>
                      <a:pPr algn="ctr"/>
                      <a:endParaRPr lang="en-IN"/>
                    </a:p>
                  </a:txBody>
                  <a:tcPr/>
                </a:tc>
                <a:tc>
                  <a:txBody>
                    <a:bodyPr/>
                    <a:lstStyle/>
                    <a:p>
                      <a:pPr algn="ctr"/>
                      <a:r>
                        <a:rPr lang="en-US" dirty="0"/>
                        <a:t>Leave_type</a:t>
                      </a:r>
                      <a:endParaRPr lang="en-IN" dirty="0"/>
                    </a:p>
                  </a:txBody>
                  <a:tcPr/>
                </a:tc>
                <a:tc>
                  <a:txBody>
                    <a:bodyPr/>
                    <a:lstStyle/>
                    <a:p>
                      <a:pPr algn="ctr"/>
                      <a:r>
                        <a:rPr lang="en-US" dirty="0"/>
                        <a:t>VARCHAR(50)</a:t>
                      </a:r>
                      <a:endParaRPr lang="en-IN" dirty="0"/>
                    </a:p>
                  </a:txBody>
                  <a:tcPr/>
                </a:tc>
                <a:extLst>
                  <a:ext uri="{0D108BD9-81ED-4DB2-BD59-A6C34878D82A}">
                    <a16:rowId xmlns:a16="http://schemas.microsoft.com/office/drawing/2014/main" val="3799964423"/>
                  </a:ext>
                </a:extLst>
              </a:tr>
              <a:tr h="447209">
                <a:tc>
                  <a:txBody>
                    <a:bodyPr/>
                    <a:lstStyle/>
                    <a:p>
                      <a:pPr algn="ctr"/>
                      <a:endParaRPr lang="en-IN"/>
                    </a:p>
                  </a:txBody>
                  <a:tcPr/>
                </a:tc>
                <a:tc>
                  <a:txBody>
                    <a:bodyPr/>
                    <a:lstStyle/>
                    <a:p>
                      <a:pPr algn="ctr"/>
                      <a:r>
                        <a:rPr lang="en-US" dirty="0"/>
                        <a:t>Start_date</a:t>
                      </a:r>
                      <a:endParaRPr lang="en-IN" dirty="0"/>
                    </a:p>
                  </a:txBody>
                  <a:tcPr/>
                </a:tc>
                <a:tc>
                  <a:txBody>
                    <a:bodyPr/>
                    <a:lstStyle/>
                    <a:p>
                      <a:pPr algn="ctr"/>
                      <a:r>
                        <a:rPr lang="en-US" dirty="0"/>
                        <a:t>DATE</a:t>
                      </a:r>
                      <a:endParaRPr lang="en-IN" dirty="0"/>
                    </a:p>
                  </a:txBody>
                  <a:tcPr/>
                </a:tc>
                <a:extLst>
                  <a:ext uri="{0D108BD9-81ED-4DB2-BD59-A6C34878D82A}">
                    <a16:rowId xmlns:a16="http://schemas.microsoft.com/office/drawing/2014/main" val="222655040"/>
                  </a:ext>
                </a:extLst>
              </a:tr>
              <a:tr h="447209">
                <a:tc>
                  <a:txBody>
                    <a:bodyPr/>
                    <a:lstStyle/>
                    <a:p>
                      <a:pPr algn="ctr"/>
                      <a:endParaRPr lang="en-IN"/>
                    </a:p>
                  </a:txBody>
                  <a:tcPr/>
                </a:tc>
                <a:tc>
                  <a:txBody>
                    <a:bodyPr/>
                    <a:lstStyle/>
                    <a:p>
                      <a:pPr algn="ctr"/>
                      <a:r>
                        <a:rPr lang="en-US" dirty="0"/>
                        <a:t>End_date</a:t>
                      </a:r>
                      <a:endParaRPr lang="en-IN" dirty="0"/>
                    </a:p>
                  </a:txBody>
                  <a:tcPr/>
                </a:tc>
                <a:tc>
                  <a:txBody>
                    <a:bodyPr/>
                    <a:lstStyle/>
                    <a:p>
                      <a:pPr algn="ctr"/>
                      <a:r>
                        <a:rPr lang="en-US" dirty="0"/>
                        <a:t>DATE</a:t>
                      </a:r>
                      <a:endParaRPr lang="en-IN" dirty="0"/>
                    </a:p>
                  </a:txBody>
                  <a:tcPr/>
                </a:tc>
                <a:extLst>
                  <a:ext uri="{0D108BD9-81ED-4DB2-BD59-A6C34878D82A}">
                    <a16:rowId xmlns:a16="http://schemas.microsoft.com/office/drawing/2014/main" val="3347085838"/>
                  </a:ext>
                </a:extLst>
              </a:tr>
              <a:tr h="447209">
                <a:tc>
                  <a:txBody>
                    <a:bodyPr/>
                    <a:lstStyle/>
                    <a:p>
                      <a:pPr algn="ctr"/>
                      <a:endParaRPr lang="en-IN"/>
                    </a:p>
                  </a:txBody>
                  <a:tcPr/>
                </a:tc>
                <a:tc>
                  <a:txBody>
                    <a:bodyPr/>
                    <a:lstStyle/>
                    <a:p>
                      <a:pPr algn="ctr"/>
                      <a:r>
                        <a:rPr lang="en-US" dirty="0"/>
                        <a:t>Status</a:t>
                      </a:r>
                      <a:endParaRPr lang="en-IN" dirty="0"/>
                    </a:p>
                  </a:txBody>
                  <a:tcPr/>
                </a:tc>
                <a:tc>
                  <a:txBody>
                    <a:bodyPr/>
                    <a:lstStyle/>
                    <a:p>
                      <a:pPr algn="ctr"/>
                      <a:r>
                        <a:rPr lang="en-US" dirty="0"/>
                        <a:t>VARCHAR(30)</a:t>
                      </a:r>
                      <a:endParaRPr lang="en-IN" dirty="0"/>
                    </a:p>
                  </a:txBody>
                  <a:tcPr/>
                </a:tc>
                <a:extLst>
                  <a:ext uri="{0D108BD9-81ED-4DB2-BD59-A6C34878D82A}">
                    <a16:rowId xmlns:a16="http://schemas.microsoft.com/office/drawing/2014/main" val="2925691565"/>
                  </a:ext>
                </a:extLst>
              </a:tr>
            </a:tbl>
          </a:graphicData>
        </a:graphic>
      </p:graphicFrame>
    </p:spTree>
    <p:extLst>
      <p:ext uri="{BB962C8B-B14F-4D97-AF65-F5344CB8AC3E}">
        <p14:creationId xmlns:p14="http://schemas.microsoft.com/office/powerpoint/2010/main" val="1122064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62EC853-D8FF-B301-5F05-00E4EDAD7A2C}"/>
              </a:ext>
            </a:extLst>
          </p:cNvPr>
          <p:cNvGraphicFramePr>
            <a:graphicFrameLocks noGrp="1"/>
          </p:cNvGraphicFramePr>
          <p:nvPr>
            <p:extLst>
              <p:ext uri="{D42A27DB-BD31-4B8C-83A1-F6EECF244321}">
                <p14:modId xmlns:p14="http://schemas.microsoft.com/office/powerpoint/2010/main" val="1278285918"/>
              </p:ext>
            </p:extLst>
          </p:nvPr>
        </p:nvGraphicFramePr>
        <p:xfrm>
          <a:off x="599767" y="709833"/>
          <a:ext cx="10776156" cy="5248520"/>
        </p:xfrm>
        <a:graphic>
          <a:graphicData uri="http://schemas.openxmlformats.org/drawingml/2006/table">
            <a:tbl>
              <a:tblPr firstRow="1" bandRow="1">
                <a:tableStyleId>{5C22544A-7EE6-4342-B048-85BDC9FD1C3A}</a:tableStyleId>
              </a:tblPr>
              <a:tblGrid>
                <a:gridCol w="2100986">
                  <a:extLst>
                    <a:ext uri="{9D8B030D-6E8A-4147-A177-3AD203B41FA5}">
                      <a16:colId xmlns:a16="http://schemas.microsoft.com/office/drawing/2014/main" val="3021686964"/>
                    </a:ext>
                  </a:extLst>
                </a:gridCol>
                <a:gridCol w="4337585">
                  <a:extLst>
                    <a:ext uri="{9D8B030D-6E8A-4147-A177-3AD203B41FA5}">
                      <a16:colId xmlns:a16="http://schemas.microsoft.com/office/drawing/2014/main" val="213743390"/>
                    </a:ext>
                  </a:extLst>
                </a:gridCol>
                <a:gridCol w="4337585">
                  <a:extLst>
                    <a:ext uri="{9D8B030D-6E8A-4147-A177-3AD203B41FA5}">
                      <a16:colId xmlns:a16="http://schemas.microsoft.com/office/drawing/2014/main" val="2563605013"/>
                    </a:ext>
                  </a:extLst>
                </a:gridCol>
              </a:tblGrid>
              <a:tr h="656065">
                <a:tc>
                  <a:txBody>
                    <a:bodyPr/>
                    <a:lstStyle/>
                    <a:p>
                      <a:pPr algn="ctr"/>
                      <a:r>
                        <a:rPr lang="en-US" dirty="0"/>
                        <a:t>Table Name</a:t>
                      </a:r>
                      <a:endParaRPr lang="en-IN" dirty="0"/>
                    </a:p>
                  </a:txBody>
                  <a:tcPr/>
                </a:tc>
                <a:tc>
                  <a:txBody>
                    <a:bodyPr/>
                    <a:lstStyle/>
                    <a:p>
                      <a:pPr algn="ctr"/>
                      <a:r>
                        <a:rPr lang="en-US" dirty="0"/>
                        <a:t>Column Name</a:t>
                      </a:r>
                      <a:endParaRPr lang="en-IN" dirty="0"/>
                    </a:p>
                  </a:txBody>
                  <a:tcPr/>
                </a:tc>
                <a:tc>
                  <a:txBody>
                    <a:bodyPr/>
                    <a:lstStyle/>
                    <a:p>
                      <a:pPr algn="ctr"/>
                      <a:r>
                        <a:rPr lang="en-US" dirty="0"/>
                        <a:t>Data Type</a:t>
                      </a:r>
                      <a:endParaRPr lang="en-IN" dirty="0"/>
                    </a:p>
                  </a:txBody>
                  <a:tcPr/>
                </a:tc>
                <a:extLst>
                  <a:ext uri="{0D108BD9-81ED-4DB2-BD59-A6C34878D82A}">
                    <a16:rowId xmlns:a16="http://schemas.microsoft.com/office/drawing/2014/main" val="1421412153"/>
                  </a:ext>
                </a:extLst>
              </a:tr>
              <a:tr h="656065">
                <a:tc>
                  <a:txBody>
                    <a:bodyPr/>
                    <a:lstStyle/>
                    <a:p>
                      <a:pPr algn="ctr"/>
                      <a:r>
                        <a:rPr lang="en-US" b="1" dirty="0"/>
                        <a:t>Payroll</a:t>
                      </a:r>
                      <a:endParaRPr lang="en-IN" b="1" dirty="0"/>
                    </a:p>
                  </a:txBody>
                  <a:tcPr/>
                </a:tc>
                <a:tc>
                  <a:txBody>
                    <a:bodyPr/>
                    <a:lstStyle/>
                    <a:p>
                      <a:pPr algn="ctr">
                        <a:buNone/>
                      </a:pPr>
                      <a:r>
                        <a:rPr lang="en-IN" dirty="0"/>
                        <a:t>emp_ID</a:t>
                      </a:r>
                    </a:p>
                  </a:txBody>
                  <a:tcPr anchor="ctr"/>
                </a:tc>
                <a:tc>
                  <a:txBody>
                    <a:bodyPr/>
                    <a:lstStyle/>
                    <a:p>
                      <a:pPr algn="ctr">
                        <a:buNone/>
                      </a:pPr>
                      <a:r>
                        <a:rPr lang="en-IN" dirty="0"/>
                        <a:t>INT</a:t>
                      </a:r>
                    </a:p>
                  </a:txBody>
                  <a:tcPr anchor="ctr"/>
                </a:tc>
                <a:extLst>
                  <a:ext uri="{0D108BD9-81ED-4DB2-BD59-A6C34878D82A}">
                    <a16:rowId xmlns:a16="http://schemas.microsoft.com/office/drawing/2014/main" val="1074972107"/>
                  </a:ext>
                </a:extLst>
              </a:tr>
              <a:tr h="656065">
                <a:tc>
                  <a:txBody>
                    <a:bodyPr/>
                    <a:lstStyle/>
                    <a:p>
                      <a:pPr algn="ctr"/>
                      <a:endParaRPr lang="en-IN"/>
                    </a:p>
                  </a:txBody>
                  <a:tcPr/>
                </a:tc>
                <a:tc>
                  <a:txBody>
                    <a:bodyPr/>
                    <a:lstStyle/>
                    <a:p>
                      <a:pPr algn="ctr"/>
                      <a:r>
                        <a:rPr lang="en-US" dirty="0"/>
                        <a:t>Job_ID</a:t>
                      </a:r>
                      <a:endParaRPr lang="en-IN" dirty="0"/>
                    </a:p>
                  </a:txBody>
                  <a:tcPr/>
                </a:tc>
                <a:tc>
                  <a:txBody>
                    <a:bodyPr/>
                    <a:lstStyle/>
                    <a:p>
                      <a:pPr algn="ctr"/>
                      <a:r>
                        <a:rPr lang="en-US" dirty="0"/>
                        <a:t>INT</a:t>
                      </a:r>
                      <a:endParaRPr lang="en-IN" dirty="0"/>
                    </a:p>
                  </a:txBody>
                  <a:tcPr/>
                </a:tc>
                <a:extLst>
                  <a:ext uri="{0D108BD9-81ED-4DB2-BD59-A6C34878D82A}">
                    <a16:rowId xmlns:a16="http://schemas.microsoft.com/office/drawing/2014/main" val="2181242303"/>
                  </a:ext>
                </a:extLst>
              </a:tr>
              <a:tr h="656065">
                <a:tc>
                  <a:txBody>
                    <a:bodyPr/>
                    <a:lstStyle/>
                    <a:p>
                      <a:pPr algn="ctr"/>
                      <a:endParaRPr lang="en-IN"/>
                    </a:p>
                  </a:txBody>
                  <a:tcPr/>
                </a:tc>
                <a:tc>
                  <a:txBody>
                    <a:bodyPr/>
                    <a:lstStyle/>
                    <a:p>
                      <a:pPr algn="ctr"/>
                      <a:r>
                        <a:rPr lang="en-US" dirty="0"/>
                        <a:t>Salary_ID</a:t>
                      </a:r>
                      <a:endParaRPr lang="en-IN" dirty="0"/>
                    </a:p>
                  </a:txBody>
                  <a:tcPr/>
                </a:tc>
                <a:tc>
                  <a:txBody>
                    <a:bodyPr/>
                    <a:lstStyle/>
                    <a:p>
                      <a:pPr algn="ctr"/>
                      <a:r>
                        <a:rPr lang="en-US" dirty="0"/>
                        <a:t>INT</a:t>
                      </a:r>
                      <a:endParaRPr lang="en-IN" dirty="0"/>
                    </a:p>
                  </a:txBody>
                  <a:tcPr/>
                </a:tc>
                <a:extLst>
                  <a:ext uri="{0D108BD9-81ED-4DB2-BD59-A6C34878D82A}">
                    <a16:rowId xmlns:a16="http://schemas.microsoft.com/office/drawing/2014/main" val="3418279505"/>
                  </a:ext>
                </a:extLst>
              </a:tr>
              <a:tr h="656065">
                <a:tc>
                  <a:txBody>
                    <a:bodyPr/>
                    <a:lstStyle/>
                    <a:p>
                      <a:pPr algn="ctr"/>
                      <a:endParaRPr lang="en-IN"/>
                    </a:p>
                  </a:txBody>
                  <a:tcPr/>
                </a:tc>
                <a:tc>
                  <a:txBody>
                    <a:bodyPr/>
                    <a:lstStyle/>
                    <a:p>
                      <a:pPr algn="ctr"/>
                      <a:r>
                        <a:rPr lang="en-US" dirty="0"/>
                        <a:t>Leave_ID</a:t>
                      </a:r>
                      <a:endParaRPr lang="en-IN" dirty="0"/>
                    </a:p>
                  </a:txBody>
                  <a:tcPr/>
                </a:tc>
                <a:tc>
                  <a:txBody>
                    <a:bodyPr/>
                    <a:lstStyle/>
                    <a:p>
                      <a:pPr algn="ctr"/>
                      <a:r>
                        <a:rPr lang="en-US" dirty="0"/>
                        <a:t>INT</a:t>
                      </a:r>
                      <a:endParaRPr lang="en-IN" dirty="0"/>
                    </a:p>
                  </a:txBody>
                  <a:tcPr/>
                </a:tc>
                <a:extLst>
                  <a:ext uri="{0D108BD9-81ED-4DB2-BD59-A6C34878D82A}">
                    <a16:rowId xmlns:a16="http://schemas.microsoft.com/office/drawing/2014/main" val="363800056"/>
                  </a:ext>
                </a:extLst>
              </a:tr>
              <a:tr h="656065">
                <a:tc>
                  <a:txBody>
                    <a:bodyPr/>
                    <a:lstStyle/>
                    <a:p>
                      <a:pPr algn="ctr"/>
                      <a:endParaRPr lang="en-IN"/>
                    </a:p>
                  </a:txBody>
                  <a:tcPr/>
                </a:tc>
                <a:tc>
                  <a:txBody>
                    <a:bodyPr/>
                    <a:lstStyle/>
                    <a:p>
                      <a:pPr algn="ctr"/>
                      <a:r>
                        <a:rPr lang="en-US" dirty="0"/>
                        <a:t>Date</a:t>
                      </a:r>
                      <a:endParaRPr lang="en-IN" dirty="0"/>
                    </a:p>
                  </a:txBody>
                  <a:tcPr/>
                </a:tc>
                <a:tc>
                  <a:txBody>
                    <a:bodyPr/>
                    <a:lstStyle/>
                    <a:p>
                      <a:pPr algn="ctr"/>
                      <a:r>
                        <a:rPr lang="en-US" dirty="0"/>
                        <a:t>DATE</a:t>
                      </a:r>
                      <a:endParaRPr lang="en-IN" dirty="0"/>
                    </a:p>
                  </a:txBody>
                  <a:tcPr/>
                </a:tc>
                <a:extLst>
                  <a:ext uri="{0D108BD9-81ED-4DB2-BD59-A6C34878D82A}">
                    <a16:rowId xmlns:a16="http://schemas.microsoft.com/office/drawing/2014/main" val="3544688583"/>
                  </a:ext>
                </a:extLst>
              </a:tr>
              <a:tr h="656065">
                <a:tc>
                  <a:txBody>
                    <a:bodyPr/>
                    <a:lstStyle/>
                    <a:p>
                      <a:pPr algn="ctr"/>
                      <a:endParaRPr lang="en-IN"/>
                    </a:p>
                  </a:txBody>
                  <a:tcPr/>
                </a:tc>
                <a:tc>
                  <a:txBody>
                    <a:bodyPr/>
                    <a:lstStyle/>
                    <a:p>
                      <a:pPr algn="ctr"/>
                      <a:r>
                        <a:rPr lang="en-US" dirty="0"/>
                        <a:t>Report</a:t>
                      </a:r>
                      <a:endParaRPr lang="en-IN" dirty="0"/>
                    </a:p>
                  </a:txBody>
                  <a:tcPr/>
                </a:tc>
                <a:tc>
                  <a:txBody>
                    <a:bodyPr/>
                    <a:lstStyle/>
                    <a:p>
                      <a:pPr algn="ctr"/>
                      <a:r>
                        <a:rPr lang="en-US" dirty="0"/>
                        <a:t>TEXT</a:t>
                      </a:r>
                      <a:endParaRPr lang="en-IN" dirty="0"/>
                    </a:p>
                  </a:txBody>
                  <a:tcPr/>
                </a:tc>
                <a:extLst>
                  <a:ext uri="{0D108BD9-81ED-4DB2-BD59-A6C34878D82A}">
                    <a16:rowId xmlns:a16="http://schemas.microsoft.com/office/drawing/2014/main" val="1885697904"/>
                  </a:ext>
                </a:extLst>
              </a:tr>
              <a:tr h="656065">
                <a:tc>
                  <a:txBody>
                    <a:bodyPr/>
                    <a:lstStyle/>
                    <a:p>
                      <a:pPr algn="ctr"/>
                      <a:endParaRPr lang="en-IN"/>
                    </a:p>
                  </a:txBody>
                  <a:tcPr/>
                </a:tc>
                <a:tc>
                  <a:txBody>
                    <a:bodyPr/>
                    <a:lstStyle/>
                    <a:p>
                      <a:pPr algn="ctr"/>
                      <a:r>
                        <a:rPr lang="en-US" dirty="0"/>
                        <a:t>Total_Amount</a:t>
                      </a:r>
                      <a:endParaRPr lang="en-IN" dirty="0"/>
                    </a:p>
                  </a:txBody>
                  <a:tcPr/>
                </a:tc>
                <a:tc>
                  <a:txBody>
                    <a:bodyPr/>
                    <a:lstStyle/>
                    <a:p>
                      <a:pPr algn="ctr"/>
                      <a:r>
                        <a:rPr lang="en-US" dirty="0"/>
                        <a:t>DECIMAL</a:t>
                      </a:r>
                      <a:endParaRPr lang="en-IN" dirty="0"/>
                    </a:p>
                  </a:txBody>
                  <a:tcPr/>
                </a:tc>
                <a:extLst>
                  <a:ext uri="{0D108BD9-81ED-4DB2-BD59-A6C34878D82A}">
                    <a16:rowId xmlns:a16="http://schemas.microsoft.com/office/drawing/2014/main" val="3957566236"/>
                  </a:ext>
                </a:extLst>
              </a:tr>
            </a:tbl>
          </a:graphicData>
        </a:graphic>
      </p:graphicFrame>
    </p:spTree>
    <p:extLst>
      <p:ext uri="{BB962C8B-B14F-4D97-AF65-F5344CB8AC3E}">
        <p14:creationId xmlns:p14="http://schemas.microsoft.com/office/powerpoint/2010/main" val="2277178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0721F9-E1E2-1141-5218-2C78333FFFA6}"/>
              </a:ext>
            </a:extLst>
          </p:cNvPr>
          <p:cNvSpPr>
            <a:spLocks noChangeArrowheads="1"/>
          </p:cNvSpPr>
          <p:nvPr/>
        </p:nvSpPr>
        <p:spPr bwMode="auto">
          <a:xfrm>
            <a:off x="3283976" y="301605"/>
            <a:ext cx="4900245"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ctr"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rgbClr val="FF0000"/>
                </a:solidFill>
                <a:effectLst/>
                <a:latin typeface="Arial" panose="020B0604020202020204" pitchFamily="34" charset="0"/>
              </a:rPr>
              <a:t>ER Diagram – Key Points</a:t>
            </a:r>
          </a:p>
          <a:p>
            <a:pPr marR="0" lvl="0" algn="ctr" defTabSz="914400" rtl="0" eaLnBrk="0" fontAlgn="base" latinLnBrk="0" hangingPunct="0">
              <a:lnSpc>
                <a:spcPct val="100000"/>
              </a:lnSpc>
              <a:spcBef>
                <a:spcPct val="0"/>
              </a:spcBef>
              <a:spcAft>
                <a:spcPct val="0"/>
              </a:spcAft>
              <a:buClrTx/>
              <a:buSzTx/>
              <a:tabLst/>
            </a:pPr>
            <a:endParaRPr kumimoji="0" lang="en-US" altLang="en-US" b="1" i="0" u="none" strike="noStrike" cap="none" normalizeH="0" baseline="0" dirty="0">
              <a:ln>
                <a:noFill/>
              </a:ln>
              <a:solidFill>
                <a:srgbClr val="FF0000"/>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8CEE7781-E8BE-A161-F1E2-CA70AECDCC75}"/>
              </a:ext>
            </a:extLst>
          </p:cNvPr>
          <p:cNvPicPr>
            <a:picLocks noChangeAspect="1"/>
          </p:cNvPicPr>
          <p:nvPr/>
        </p:nvPicPr>
        <p:blipFill>
          <a:blip r:embed="rId2"/>
          <a:stretch>
            <a:fillRect/>
          </a:stretch>
        </p:blipFill>
        <p:spPr>
          <a:xfrm>
            <a:off x="321269" y="934064"/>
            <a:ext cx="10877674" cy="5171767"/>
          </a:xfrm>
          <a:prstGeom prst="rect">
            <a:avLst/>
          </a:prstGeom>
        </p:spPr>
      </p:pic>
    </p:spTree>
    <p:extLst>
      <p:ext uri="{BB962C8B-B14F-4D97-AF65-F5344CB8AC3E}">
        <p14:creationId xmlns:p14="http://schemas.microsoft.com/office/powerpoint/2010/main" val="1750726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270DBCE-D380-28C7-2F3A-F7C339AF981B}"/>
              </a:ext>
            </a:extLst>
          </p:cNvPr>
          <p:cNvGraphicFramePr>
            <a:graphicFrameLocks noGrp="1"/>
          </p:cNvGraphicFramePr>
          <p:nvPr>
            <p:extLst>
              <p:ext uri="{D42A27DB-BD31-4B8C-83A1-F6EECF244321}">
                <p14:modId xmlns:p14="http://schemas.microsoft.com/office/powerpoint/2010/main" val="2242582794"/>
              </p:ext>
            </p:extLst>
          </p:nvPr>
        </p:nvGraphicFramePr>
        <p:xfrm>
          <a:off x="619433" y="1122789"/>
          <a:ext cx="10766322" cy="4484736"/>
        </p:xfrm>
        <a:graphic>
          <a:graphicData uri="http://schemas.openxmlformats.org/drawingml/2006/table">
            <a:tbl>
              <a:tblPr firstRow="1" bandRow="1">
                <a:tableStyleId>{5C22544A-7EE6-4342-B048-85BDC9FD1C3A}</a:tableStyleId>
              </a:tblPr>
              <a:tblGrid>
                <a:gridCol w="3588774">
                  <a:extLst>
                    <a:ext uri="{9D8B030D-6E8A-4147-A177-3AD203B41FA5}">
                      <a16:colId xmlns:a16="http://schemas.microsoft.com/office/drawing/2014/main" val="491514256"/>
                    </a:ext>
                  </a:extLst>
                </a:gridCol>
                <a:gridCol w="3588774">
                  <a:extLst>
                    <a:ext uri="{9D8B030D-6E8A-4147-A177-3AD203B41FA5}">
                      <a16:colId xmlns:a16="http://schemas.microsoft.com/office/drawing/2014/main" val="2403621457"/>
                    </a:ext>
                  </a:extLst>
                </a:gridCol>
                <a:gridCol w="3588774">
                  <a:extLst>
                    <a:ext uri="{9D8B030D-6E8A-4147-A177-3AD203B41FA5}">
                      <a16:colId xmlns:a16="http://schemas.microsoft.com/office/drawing/2014/main" val="3732428109"/>
                    </a:ext>
                  </a:extLst>
                </a:gridCol>
              </a:tblGrid>
              <a:tr h="498304">
                <a:tc>
                  <a:txBody>
                    <a:bodyPr/>
                    <a:lstStyle/>
                    <a:p>
                      <a:r>
                        <a:rPr lang="en-US" dirty="0"/>
                        <a:t>Parent  Table</a:t>
                      </a:r>
                      <a:endParaRPr lang="en-IN" dirty="0"/>
                    </a:p>
                  </a:txBody>
                  <a:tcPr/>
                </a:tc>
                <a:tc>
                  <a:txBody>
                    <a:bodyPr/>
                    <a:lstStyle/>
                    <a:p>
                      <a:r>
                        <a:rPr lang="en-US" dirty="0"/>
                        <a:t>Child Table</a:t>
                      </a:r>
                      <a:endParaRPr lang="en-IN" dirty="0"/>
                    </a:p>
                  </a:txBody>
                  <a:tcPr/>
                </a:tc>
                <a:tc>
                  <a:txBody>
                    <a:bodyPr/>
                    <a:lstStyle/>
                    <a:p>
                      <a:r>
                        <a:rPr lang="en-US" dirty="0"/>
                        <a:t>Cardinality</a:t>
                      </a:r>
                      <a:endParaRPr lang="en-IN" dirty="0"/>
                    </a:p>
                  </a:txBody>
                  <a:tcPr/>
                </a:tc>
                <a:extLst>
                  <a:ext uri="{0D108BD9-81ED-4DB2-BD59-A6C34878D82A}">
                    <a16:rowId xmlns:a16="http://schemas.microsoft.com/office/drawing/2014/main" val="1305335690"/>
                  </a:ext>
                </a:extLst>
              </a:tr>
              <a:tr h="498304">
                <a:tc>
                  <a:txBody>
                    <a:bodyPr/>
                    <a:lstStyle/>
                    <a:p>
                      <a:pPr>
                        <a:buNone/>
                      </a:pPr>
                      <a:r>
                        <a:rPr lang="en-IN"/>
                        <a:t>JobDepartment</a:t>
                      </a:r>
                    </a:p>
                  </a:txBody>
                  <a:tcPr anchor="ctr"/>
                </a:tc>
                <a:tc>
                  <a:txBody>
                    <a:bodyPr/>
                    <a:lstStyle/>
                    <a:p>
                      <a:pPr>
                        <a:buNone/>
                      </a:pPr>
                      <a:r>
                        <a:rPr lang="en-IN" dirty="0"/>
                        <a:t>Employee</a:t>
                      </a:r>
                    </a:p>
                  </a:txBody>
                  <a:tcPr anchor="ctr"/>
                </a:tc>
                <a:tc>
                  <a:txBody>
                    <a:bodyPr/>
                    <a:lstStyle/>
                    <a:p>
                      <a:pPr>
                        <a:buNone/>
                      </a:pPr>
                      <a:r>
                        <a:rPr lang="en-IN" dirty="0"/>
                        <a:t>1 : N</a:t>
                      </a:r>
                    </a:p>
                  </a:txBody>
                  <a:tcPr anchor="ctr"/>
                </a:tc>
                <a:extLst>
                  <a:ext uri="{0D108BD9-81ED-4DB2-BD59-A6C34878D82A}">
                    <a16:rowId xmlns:a16="http://schemas.microsoft.com/office/drawing/2014/main" val="2530588268"/>
                  </a:ext>
                </a:extLst>
              </a:tr>
              <a:tr h="498304">
                <a:tc>
                  <a:txBody>
                    <a:bodyPr/>
                    <a:lstStyle/>
                    <a:p>
                      <a:pPr>
                        <a:buNone/>
                      </a:pPr>
                      <a:r>
                        <a:rPr lang="en-IN"/>
                        <a:t>Employee</a:t>
                      </a:r>
                    </a:p>
                  </a:txBody>
                  <a:tcPr anchor="ctr"/>
                </a:tc>
                <a:tc>
                  <a:txBody>
                    <a:bodyPr/>
                    <a:lstStyle/>
                    <a:p>
                      <a:pPr>
                        <a:buNone/>
                      </a:pPr>
                      <a:r>
                        <a:rPr lang="en-IN"/>
                        <a:t>SalaryBonus</a:t>
                      </a:r>
                    </a:p>
                  </a:txBody>
                  <a:tcPr anchor="ctr"/>
                </a:tc>
                <a:tc>
                  <a:txBody>
                    <a:bodyPr/>
                    <a:lstStyle/>
                    <a:p>
                      <a:pPr>
                        <a:buNone/>
                      </a:pPr>
                      <a:r>
                        <a:rPr lang="en-IN"/>
                        <a:t>1 : N</a:t>
                      </a:r>
                    </a:p>
                  </a:txBody>
                  <a:tcPr anchor="ctr"/>
                </a:tc>
                <a:extLst>
                  <a:ext uri="{0D108BD9-81ED-4DB2-BD59-A6C34878D82A}">
                    <a16:rowId xmlns:a16="http://schemas.microsoft.com/office/drawing/2014/main" val="3226149501"/>
                  </a:ext>
                </a:extLst>
              </a:tr>
              <a:tr h="498304">
                <a:tc>
                  <a:txBody>
                    <a:bodyPr/>
                    <a:lstStyle/>
                    <a:p>
                      <a:pPr>
                        <a:buNone/>
                      </a:pPr>
                      <a:r>
                        <a:rPr lang="en-IN"/>
                        <a:t>Employee</a:t>
                      </a:r>
                    </a:p>
                  </a:txBody>
                  <a:tcPr anchor="ctr"/>
                </a:tc>
                <a:tc>
                  <a:txBody>
                    <a:bodyPr/>
                    <a:lstStyle/>
                    <a:p>
                      <a:pPr>
                        <a:buNone/>
                      </a:pPr>
                      <a:r>
                        <a:rPr lang="en-IN"/>
                        <a:t>Qualification</a:t>
                      </a:r>
                    </a:p>
                  </a:txBody>
                  <a:tcPr anchor="ctr"/>
                </a:tc>
                <a:tc>
                  <a:txBody>
                    <a:bodyPr/>
                    <a:lstStyle/>
                    <a:p>
                      <a:pPr>
                        <a:buNone/>
                      </a:pPr>
                      <a:r>
                        <a:rPr lang="en-IN" dirty="0"/>
                        <a:t>1 : N</a:t>
                      </a:r>
                    </a:p>
                  </a:txBody>
                  <a:tcPr anchor="ctr"/>
                </a:tc>
                <a:extLst>
                  <a:ext uri="{0D108BD9-81ED-4DB2-BD59-A6C34878D82A}">
                    <a16:rowId xmlns:a16="http://schemas.microsoft.com/office/drawing/2014/main" val="619761025"/>
                  </a:ext>
                </a:extLst>
              </a:tr>
              <a:tr h="498304">
                <a:tc>
                  <a:txBody>
                    <a:bodyPr/>
                    <a:lstStyle/>
                    <a:p>
                      <a:pPr>
                        <a:buNone/>
                      </a:pPr>
                      <a:r>
                        <a:rPr lang="en-IN"/>
                        <a:t>Employee</a:t>
                      </a:r>
                    </a:p>
                  </a:txBody>
                  <a:tcPr anchor="ctr"/>
                </a:tc>
                <a:tc>
                  <a:txBody>
                    <a:bodyPr/>
                    <a:lstStyle/>
                    <a:p>
                      <a:pPr>
                        <a:buNone/>
                      </a:pPr>
                      <a:r>
                        <a:rPr lang="en-IN"/>
                        <a:t>Leaves</a:t>
                      </a:r>
                    </a:p>
                  </a:txBody>
                  <a:tcPr anchor="ctr"/>
                </a:tc>
                <a:tc>
                  <a:txBody>
                    <a:bodyPr/>
                    <a:lstStyle/>
                    <a:p>
                      <a:pPr>
                        <a:buNone/>
                      </a:pPr>
                      <a:r>
                        <a:rPr lang="en-IN"/>
                        <a:t>1 : N</a:t>
                      </a:r>
                    </a:p>
                  </a:txBody>
                  <a:tcPr anchor="ctr"/>
                </a:tc>
                <a:extLst>
                  <a:ext uri="{0D108BD9-81ED-4DB2-BD59-A6C34878D82A}">
                    <a16:rowId xmlns:a16="http://schemas.microsoft.com/office/drawing/2014/main" val="3802768856"/>
                  </a:ext>
                </a:extLst>
              </a:tr>
              <a:tr h="498304">
                <a:tc>
                  <a:txBody>
                    <a:bodyPr/>
                    <a:lstStyle/>
                    <a:p>
                      <a:pPr>
                        <a:buNone/>
                      </a:pPr>
                      <a:r>
                        <a:rPr lang="en-IN"/>
                        <a:t>Employee</a:t>
                      </a:r>
                    </a:p>
                  </a:txBody>
                  <a:tcPr anchor="ctr"/>
                </a:tc>
                <a:tc>
                  <a:txBody>
                    <a:bodyPr/>
                    <a:lstStyle/>
                    <a:p>
                      <a:pPr>
                        <a:buNone/>
                      </a:pPr>
                      <a:r>
                        <a:rPr lang="en-IN"/>
                        <a:t>Payroll</a:t>
                      </a:r>
                    </a:p>
                  </a:txBody>
                  <a:tcPr anchor="ctr"/>
                </a:tc>
                <a:tc>
                  <a:txBody>
                    <a:bodyPr/>
                    <a:lstStyle/>
                    <a:p>
                      <a:pPr>
                        <a:buNone/>
                      </a:pPr>
                      <a:r>
                        <a:rPr lang="en-IN"/>
                        <a:t>1 : N</a:t>
                      </a:r>
                    </a:p>
                  </a:txBody>
                  <a:tcPr anchor="ctr"/>
                </a:tc>
                <a:extLst>
                  <a:ext uri="{0D108BD9-81ED-4DB2-BD59-A6C34878D82A}">
                    <a16:rowId xmlns:a16="http://schemas.microsoft.com/office/drawing/2014/main" val="1189712360"/>
                  </a:ext>
                </a:extLst>
              </a:tr>
              <a:tr h="498304">
                <a:tc>
                  <a:txBody>
                    <a:bodyPr/>
                    <a:lstStyle/>
                    <a:p>
                      <a:pPr>
                        <a:buNone/>
                      </a:pPr>
                      <a:r>
                        <a:rPr lang="en-IN"/>
                        <a:t>JobDepartment</a:t>
                      </a:r>
                    </a:p>
                  </a:txBody>
                  <a:tcPr anchor="ctr"/>
                </a:tc>
                <a:tc>
                  <a:txBody>
                    <a:bodyPr/>
                    <a:lstStyle/>
                    <a:p>
                      <a:pPr>
                        <a:buNone/>
                      </a:pPr>
                      <a:r>
                        <a:rPr lang="en-IN"/>
                        <a:t>Payroll</a:t>
                      </a:r>
                    </a:p>
                  </a:txBody>
                  <a:tcPr anchor="ctr"/>
                </a:tc>
                <a:tc>
                  <a:txBody>
                    <a:bodyPr/>
                    <a:lstStyle/>
                    <a:p>
                      <a:pPr>
                        <a:buNone/>
                      </a:pPr>
                      <a:r>
                        <a:rPr lang="en-IN"/>
                        <a:t>1 : N</a:t>
                      </a:r>
                    </a:p>
                  </a:txBody>
                  <a:tcPr anchor="ctr"/>
                </a:tc>
                <a:extLst>
                  <a:ext uri="{0D108BD9-81ED-4DB2-BD59-A6C34878D82A}">
                    <a16:rowId xmlns:a16="http://schemas.microsoft.com/office/drawing/2014/main" val="4196478561"/>
                  </a:ext>
                </a:extLst>
              </a:tr>
              <a:tr h="498304">
                <a:tc>
                  <a:txBody>
                    <a:bodyPr/>
                    <a:lstStyle/>
                    <a:p>
                      <a:pPr>
                        <a:buNone/>
                      </a:pPr>
                      <a:r>
                        <a:rPr lang="en-IN"/>
                        <a:t>SalaryBonus</a:t>
                      </a:r>
                    </a:p>
                  </a:txBody>
                  <a:tcPr anchor="ctr"/>
                </a:tc>
                <a:tc>
                  <a:txBody>
                    <a:bodyPr/>
                    <a:lstStyle/>
                    <a:p>
                      <a:pPr>
                        <a:buNone/>
                      </a:pPr>
                      <a:r>
                        <a:rPr lang="en-IN"/>
                        <a:t>Payroll</a:t>
                      </a:r>
                    </a:p>
                  </a:txBody>
                  <a:tcPr anchor="ctr"/>
                </a:tc>
                <a:tc>
                  <a:txBody>
                    <a:bodyPr/>
                    <a:lstStyle/>
                    <a:p>
                      <a:pPr>
                        <a:buNone/>
                      </a:pPr>
                      <a:r>
                        <a:rPr lang="en-IN"/>
                        <a:t>1 : N</a:t>
                      </a:r>
                    </a:p>
                  </a:txBody>
                  <a:tcPr anchor="ctr"/>
                </a:tc>
                <a:extLst>
                  <a:ext uri="{0D108BD9-81ED-4DB2-BD59-A6C34878D82A}">
                    <a16:rowId xmlns:a16="http://schemas.microsoft.com/office/drawing/2014/main" val="4111591963"/>
                  </a:ext>
                </a:extLst>
              </a:tr>
              <a:tr h="498304">
                <a:tc>
                  <a:txBody>
                    <a:bodyPr/>
                    <a:lstStyle/>
                    <a:p>
                      <a:pPr>
                        <a:buNone/>
                      </a:pPr>
                      <a:r>
                        <a:rPr lang="en-IN"/>
                        <a:t>Leaves</a:t>
                      </a:r>
                    </a:p>
                  </a:txBody>
                  <a:tcPr anchor="ctr"/>
                </a:tc>
                <a:tc>
                  <a:txBody>
                    <a:bodyPr/>
                    <a:lstStyle/>
                    <a:p>
                      <a:pPr>
                        <a:buNone/>
                      </a:pPr>
                      <a:r>
                        <a:rPr lang="en-IN"/>
                        <a:t>Payroll</a:t>
                      </a:r>
                    </a:p>
                  </a:txBody>
                  <a:tcPr anchor="ctr"/>
                </a:tc>
                <a:tc>
                  <a:txBody>
                    <a:bodyPr/>
                    <a:lstStyle/>
                    <a:p>
                      <a:pPr>
                        <a:buNone/>
                      </a:pPr>
                      <a:r>
                        <a:rPr lang="en-IN" dirty="0"/>
                        <a:t>1 : N</a:t>
                      </a:r>
                    </a:p>
                  </a:txBody>
                  <a:tcPr anchor="ctr"/>
                </a:tc>
                <a:extLst>
                  <a:ext uri="{0D108BD9-81ED-4DB2-BD59-A6C34878D82A}">
                    <a16:rowId xmlns:a16="http://schemas.microsoft.com/office/drawing/2014/main" val="3956541395"/>
                  </a:ext>
                </a:extLst>
              </a:tr>
            </a:tbl>
          </a:graphicData>
        </a:graphic>
      </p:graphicFrame>
      <p:sp>
        <p:nvSpPr>
          <p:cNvPr id="3" name="TextBox 2">
            <a:extLst>
              <a:ext uri="{FF2B5EF4-FFF2-40B4-BE49-F238E27FC236}">
                <a16:creationId xmlns:a16="http://schemas.microsoft.com/office/drawing/2014/main" id="{F5A95417-0C11-29B6-0FFB-B51CCD21165D}"/>
              </a:ext>
            </a:extLst>
          </p:cNvPr>
          <p:cNvSpPr txBox="1"/>
          <p:nvPr/>
        </p:nvSpPr>
        <p:spPr>
          <a:xfrm>
            <a:off x="491613" y="324465"/>
            <a:ext cx="10894142" cy="523220"/>
          </a:xfrm>
          <a:prstGeom prst="rect">
            <a:avLst/>
          </a:prstGeom>
          <a:noFill/>
        </p:spPr>
        <p:txBody>
          <a:bodyPr wrap="square" rtlCol="0">
            <a:spAutoFit/>
          </a:bodyPr>
          <a:lstStyle/>
          <a:p>
            <a:pPr algn="ctr"/>
            <a:r>
              <a:rPr lang="en-US" sz="2800" b="1" dirty="0">
                <a:solidFill>
                  <a:srgbClr val="FF0000"/>
                </a:solidFill>
              </a:rPr>
              <a:t>Cardinalities</a:t>
            </a:r>
            <a:endParaRPr lang="en-IN" sz="2800" b="1" dirty="0">
              <a:solidFill>
                <a:srgbClr val="FF0000"/>
              </a:solidFill>
            </a:endParaRPr>
          </a:p>
        </p:txBody>
      </p:sp>
    </p:spTree>
    <p:extLst>
      <p:ext uri="{BB962C8B-B14F-4D97-AF65-F5344CB8AC3E}">
        <p14:creationId xmlns:p14="http://schemas.microsoft.com/office/powerpoint/2010/main" val="2542787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9ED2AE-76AE-7332-B35E-BA17E7E603CE}"/>
              </a:ext>
            </a:extLst>
          </p:cNvPr>
          <p:cNvSpPr txBox="1"/>
          <p:nvPr/>
        </p:nvSpPr>
        <p:spPr>
          <a:xfrm>
            <a:off x="1230430" y="432956"/>
            <a:ext cx="6096000" cy="369332"/>
          </a:xfrm>
          <a:prstGeom prst="rect">
            <a:avLst/>
          </a:prstGeom>
          <a:noFill/>
        </p:spPr>
        <p:txBody>
          <a:bodyPr wrap="square">
            <a:spAutoFit/>
          </a:bodyPr>
          <a:lstStyle/>
          <a:p>
            <a:r>
              <a:rPr lang="en-US" dirty="0"/>
              <a:t>1. Which departments have the highest number of employees?</a:t>
            </a:r>
            <a:endParaRPr lang="en-IN" dirty="0"/>
          </a:p>
        </p:txBody>
      </p:sp>
      <p:pic>
        <p:nvPicPr>
          <p:cNvPr id="7" name="Picture 6">
            <a:extLst>
              <a:ext uri="{FF2B5EF4-FFF2-40B4-BE49-F238E27FC236}">
                <a16:creationId xmlns:a16="http://schemas.microsoft.com/office/drawing/2014/main" id="{DDF3429E-0A8E-DFF9-5433-B957246D660E}"/>
              </a:ext>
            </a:extLst>
          </p:cNvPr>
          <p:cNvPicPr>
            <a:picLocks noChangeAspect="1"/>
          </p:cNvPicPr>
          <p:nvPr/>
        </p:nvPicPr>
        <p:blipFill>
          <a:blip r:embed="rId2"/>
          <a:stretch>
            <a:fillRect/>
          </a:stretch>
        </p:blipFill>
        <p:spPr>
          <a:xfrm>
            <a:off x="7012873" y="1888429"/>
            <a:ext cx="3814920" cy="3059491"/>
          </a:xfrm>
          <a:prstGeom prst="rect">
            <a:avLst/>
          </a:prstGeom>
        </p:spPr>
      </p:pic>
      <p:pic>
        <p:nvPicPr>
          <p:cNvPr id="4" name="Picture 3">
            <a:extLst>
              <a:ext uri="{FF2B5EF4-FFF2-40B4-BE49-F238E27FC236}">
                <a16:creationId xmlns:a16="http://schemas.microsoft.com/office/drawing/2014/main" id="{B9E52799-CF78-64FF-48AC-B4461DC01308}"/>
              </a:ext>
            </a:extLst>
          </p:cNvPr>
          <p:cNvPicPr>
            <a:picLocks noChangeAspect="1"/>
          </p:cNvPicPr>
          <p:nvPr/>
        </p:nvPicPr>
        <p:blipFill>
          <a:blip r:embed="rId3"/>
          <a:stretch>
            <a:fillRect/>
          </a:stretch>
        </p:blipFill>
        <p:spPr>
          <a:xfrm>
            <a:off x="1230430" y="1111596"/>
            <a:ext cx="4443035" cy="4613155"/>
          </a:xfrm>
          <a:prstGeom prst="rect">
            <a:avLst/>
          </a:prstGeom>
        </p:spPr>
      </p:pic>
    </p:spTree>
    <p:extLst>
      <p:ext uri="{BB962C8B-B14F-4D97-AF65-F5344CB8AC3E}">
        <p14:creationId xmlns:p14="http://schemas.microsoft.com/office/powerpoint/2010/main" val="4009115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5ECE03-2BF1-33F2-E4C7-8BAC3F829B57}"/>
              </a:ext>
            </a:extLst>
          </p:cNvPr>
          <p:cNvSpPr txBox="1"/>
          <p:nvPr/>
        </p:nvSpPr>
        <p:spPr>
          <a:xfrm>
            <a:off x="877504" y="440343"/>
            <a:ext cx="6096000" cy="369332"/>
          </a:xfrm>
          <a:prstGeom prst="rect">
            <a:avLst/>
          </a:prstGeom>
          <a:noFill/>
        </p:spPr>
        <p:txBody>
          <a:bodyPr wrap="square">
            <a:spAutoFit/>
          </a:bodyPr>
          <a:lstStyle/>
          <a:p>
            <a:pPr>
              <a:buNone/>
            </a:pPr>
            <a:r>
              <a:rPr lang="en-US" dirty="0"/>
              <a:t>2. What is the average salary per department?</a:t>
            </a:r>
          </a:p>
        </p:txBody>
      </p:sp>
      <p:pic>
        <p:nvPicPr>
          <p:cNvPr id="4" name="Picture 3">
            <a:extLst>
              <a:ext uri="{FF2B5EF4-FFF2-40B4-BE49-F238E27FC236}">
                <a16:creationId xmlns:a16="http://schemas.microsoft.com/office/drawing/2014/main" id="{FFDA4D2B-26B9-DC03-60D0-E6E14DFF623B}"/>
              </a:ext>
            </a:extLst>
          </p:cNvPr>
          <p:cNvPicPr>
            <a:picLocks noChangeAspect="1"/>
          </p:cNvPicPr>
          <p:nvPr/>
        </p:nvPicPr>
        <p:blipFill>
          <a:blip r:embed="rId2"/>
          <a:stretch>
            <a:fillRect/>
          </a:stretch>
        </p:blipFill>
        <p:spPr>
          <a:xfrm>
            <a:off x="717081" y="1322350"/>
            <a:ext cx="4695074" cy="4565554"/>
          </a:xfrm>
          <a:prstGeom prst="rect">
            <a:avLst/>
          </a:prstGeom>
        </p:spPr>
      </p:pic>
      <p:pic>
        <p:nvPicPr>
          <p:cNvPr id="6" name="Picture 5">
            <a:extLst>
              <a:ext uri="{FF2B5EF4-FFF2-40B4-BE49-F238E27FC236}">
                <a16:creationId xmlns:a16="http://schemas.microsoft.com/office/drawing/2014/main" id="{FD697EE3-C696-B8AB-2DD2-68EB03287BD2}"/>
              </a:ext>
            </a:extLst>
          </p:cNvPr>
          <p:cNvPicPr>
            <a:picLocks noChangeAspect="1"/>
          </p:cNvPicPr>
          <p:nvPr/>
        </p:nvPicPr>
        <p:blipFill>
          <a:blip r:embed="rId3"/>
          <a:stretch>
            <a:fillRect/>
          </a:stretch>
        </p:blipFill>
        <p:spPr>
          <a:xfrm>
            <a:off x="6659099" y="1482771"/>
            <a:ext cx="4607816" cy="3875292"/>
          </a:xfrm>
          <a:prstGeom prst="rect">
            <a:avLst/>
          </a:prstGeom>
        </p:spPr>
      </p:pic>
    </p:spTree>
    <p:extLst>
      <p:ext uri="{BB962C8B-B14F-4D97-AF65-F5344CB8AC3E}">
        <p14:creationId xmlns:p14="http://schemas.microsoft.com/office/powerpoint/2010/main" val="1815684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277AB-6188-EAB9-70AA-58DD827456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9E15879-96AF-5393-04A9-D7C780926192}"/>
              </a:ext>
            </a:extLst>
          </p:cNvPr>
          <p:cNvSpPr txBox="1"/>
          <p:nvPr/>
        </p:nvSpPr>
        <p:spPr>
          <a:xfrm>
            <a:off x="554246" y="72097"/>
            <a:ext cx="6096000" cy="369332"/>
          </a:xfrm>
          <a:prstGeom prst="rect">
            <a:avLst/>
          </a:prstGeom>
          <a:noFill/>
        </p:spPr>
        <p:txBody>
          <a:bodyPr wrap="square">
            <a:spAutoFit/>
          </a:bodyPr>
          <a:lstStyle/>
          <a:p>
            <a:r>
              <a:rPr lang="en-US" dirty="0"/>
              <a:t>3. Who are the top 5 highest-paid employees?</a:t>
            </a:r>
            <a:endParaRPr lang="en-IN" dirty="0"/>
          </a:p>
        </p:txBody>
      </p:sp>
      <p:pic>
        <p:nvPicPr>
          <p:cNvPr id="5" name="Picture 4">
            <a:extLst>
              <a:ext uri="{FF2B5EF4-FFF2-40B4-BE49-F238E27FC236}">
                <a16:creationId xmlns:a16="http://schemas.microsoft.com/office/drawing/2014/main" id="{4DF38546-CAF0-75F2-A4D7-45A972097F4D}"/>
              </a:ext>
            </a:extLst>
          </p:cNvPr>
          <p:cNvPicPr>
            <a:picLocks noChangeAspect="1"/>
          </p:cNvPicPr>
          <p:nvPr/>
        </p:nvPicPr>
        <p:blipFill>
          <a:blip r:embed="rId3"/>
          <a:stretch>
            <a:fillRect/>
          </a:stretch>
        </p:blipFill>
        <p:spPr>
          <a:xfrm>
            <a:off x="160421" y="898357"/>
            <a:ext cx="5229726" cy="5250487"/>
          </a:xfrm>
          <a:prstGeom prst="rect">
            <a:avLst/>
          </a:prstGeom>
        </p:spPr>
      </p:pic>
      <p:pic>
        <p:nvPicPr>
          <p:cNvPr id="7" name="Picture 6">
            <a:extLst>
              <a:ext uri="{FF2B5EF4-FFF2-40B4-BE49-F238E27FC236}">
                <a16:creationId xmlns:a16="http://schemas.microsoft.com/office/drawing/2014/main" id="{A90706AA-EE12-3C25-C6A4-5FD9AAF357F1}"/>
              </a:ext>
            </a:extLst>
          </p:cNvPr>
          <p:cNvPicPr>
            <a:picLocks noChangeAspect="1"/>
          </p:cNvPicPr>
          <p:nvPr/>
        </p:nvPicPr>
        <p:blipFill>
          <a:blip r:embed="rId4"/>
          <a:stretch>
            <a:fillRect/>
          </a:stretch>
        </p:blipFill>
        <p:spPr>
          <a:xfrm>
            <a:off x="5727032" y="1179365"/>
            <a:ext cx="6096000" cy="3729519"/>
          </a:xfrm>
          <a:prstGeom prst="rect">
            <a:avLst/>
          </a:prstGeom>
        </p:spPr>
      </p:pic>
    </p:spTree>
    <p:extLst>
      <p:ext uri="{BB962C8B-B14F-4D97-AF65-F5344CB8AC3E}">
        <p14:creationId xmlns:p14="http://schemas.microsoft.com/office/powerpoint/2010/main" val="3181431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A27963-5C7F-3018-FAE1-8F5670DE3C2B}"/>
              </a:ext>
            </a:extLst>
          </p:cNvPr>
          <p:cNvSpPr txBox="1"/>
          <p:nvPr/>
        </p:nvSpPr>
        <p:spPr>
          <a:xfrm>
            <a:off x="383643" y="188458"/>
            <a:ext cx="6096000" cy="369332"/>
          </a:xfrm>
          <a:prstGeom prst="rect">
            <a:avLst/>
          </a:prstGeom>
          <a:noFill/>
        </p:spPr>
        <p:txBody>
          <a:bodyPr wrap="square">
            <a:spAutoFit/>
          </a:bodyPr>
          <a:lstStyle/>
          <a:p>
            <a:r>
              <a:rPr lang="en-US" dirty="0"/>
              <a:t>4. Which employees have the highest number of qualifications?</a:t>
            </a:r>
            <a:endParaRPr lang="en-IN" dirty="0"/>
          </a:p>
        </p:txBody>
      </p:sp>
      <p:pic>
        <p:nvPicPr>
          <p:cNvPr id="4" name="Picture 3">
            <a:extLst>
              <a:ext uri="{FF2B5EF4-FFF2-40B4-BE49-F238E27FC236}">
                <a16:creationId xmlns:a16="http://schemas.microsoft.com/office/drawing/2014/main" id="{A032103E-2DEA-E248-1797-3D17F8D255A4}"/>
              </a:ext>
            </a:extLst>
          </p:cNvPr>
          <p:cNvPicPr>
            <a:picLocks noChangeAspect="1"/>
          </p:cNvPicPr>
          <p:nvPr/>
        </p:nvPicPr>
        <p:blipFill>
          <a:blip r:embed="rId2"/>
          <a:stretch>
            <a:fillRect/>
          </a:stretch>
        </p:blipFill>
        <p:spPr>
          <a:xfrm>
            <a:off x="553896" y="786841"/>
            <a:ext cx="4578260" cy="5100612"/>
          </a:xfrm>
          <a:prstGeom prst="rect">
            <a:avLst/>
          </a:prstGeom>
        </p:spPr>
      </p:pic>
      <p:pic>
        <p:nvPicPr>
          <p:cNvPr id="6" name="Picture 5">
            <a:extLst>
              <a:ext uri="{FF2B5EF4-FFF2-40B4-BE49-F238E27FC236}">
                <a16:creationId xmlns:a16="http://schemas.microsoft.com/office/drawing/2014/main" id="{6BAE9CB9-C772-7D49-68A1-43F79A3478FD}"/>
              </a:ext>
            </a:extLst>
          </p:cNvPr>
          <p:cNvPicPr>
            <a:picLocks noChangeAspect="1"/>
          </p:cNvPicPr>
          <p:nvPr/>
        </p:nvPicPr>
        <p:blipFill>
          <a:blip r:embed="rId3"/>
          <a:stretch>
            <a:fillRect/>
          </a:stretch>
        </p:blipFill>
        <p:spPr>
          <a:xfrm>
            <a:off x="5676896" y="786841"/>
            <a:ext cx="5875823" cy="4009748"/>
          </a:xfrm>
          <a:prstGeom prst="rect">
            <a:avLst/>
          </a:prstGeom>
        </p:spPr>
      </p:pic>
    </p:spTree>
    <p:extLst>
      <p:ext uri="{BB962C8B-B14F-4D97-AF65-F5344CB8AC3E}">
        <p14:creationId xmlns:p14="http://schemas.microsoft.com/office/powerpoint/2010/main" val="3463094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DC12DF-3925-2D42-A284-D23B6E920E3D}"/>
              </a:ext>
            </a:extLst>
          </p:cNvPr>
          <p:cNvSpPr txBox="1"/>
          <p:nvPr/>
        </p:nvSpPr>
        <p:spPr>
          <a:xfrm>
            <a:off x="1036320" y="927854"/>
            <a:ext cx="6096000" cy="369332"/>
          </a:xfrm>
          <a:prstGeom prst="rect">
            <a:avLst/>
          </a:prstGeom>
          <a:noFill/>
        </p:spPr>
        <p:txBody>
          <a:bodyPr wrap="square">
            <a:spAutoFit/>
          </a:bodyPr>
          <a:lstStyle/>
          <a:p>
            <a:r>
              <a:rPr lang="en-US" dirty="0"/>
              <a:t>5. Which year had the most employees taking leaves?</a:t>
            </a:r>
            <a:endParaRPr lang="en-IN" dirty="0"/>
          </a:p>
        </p:txBody>
      </p:sp>
      <p:pic>
        <p:nvPicPr>
          <p:cNvPr id="7" name="Picture 6">
            <a:extLst>
              <a:ext uri="{FF2B5EF4-FFF2-40B4-BE49-F238E27FC236}">
                <a16:creationId xmlns:a16="http://schemas.microsoft.com/office/drawing/2014/main" id="{CA5494F8-3C81-120E-98DC-F7AAC6F9150B}"/>
              </a:ext>
            </a:extLst>
          </p:cNvPr>
          <p:cNvPicPr>
            <a:picLocks noChangeAspect="1"/>
          </p:cNvPicPr>
          <p:nvPr/>
        </p:nvPicPr>
        <p:blipFill>
          <a:blip r:embed="rId2"/>
          <a:stretch>
            <a:fillRect/>
          </a:stretch>
        </p:blipFill>
        <p:spPr>
          <a:xfrm>
            <a:off x="7046761" y="2345006"/>
            <a:ext cx="4088806" cy="1332914"/>
          </a:xfrm>
          <a:prstGeom prst="rect">
            <a:avLst/>
          </a:prstGeom>
        </p:spPr>
      </p:pic>
      <p:pic>
        <p:nvPicPr>
          <p:cNvPr id="4" name="Picture 3">
            <a:extLst>
              <a:ext uri="{FF2B5EF4-FFF2-40B4-BE49-F238E27FC236}">
                <a16:creationId xmlns:a16="http://schemas.microsoft.com/office/drawing/2014/main" id="{0BE0E35F-66BB-5244-EF9B-161A9FFF36BF}"/>
              </a:ext>
            </a:extLst>
          </p:cNvPr>
          <p:cNvPicPr>
            <a:picLocks noChangeAspect="1"/>
          </p:cNvPicPr>
          <p:nvPr/>
        </p:nvPicPr>
        <p:blipFill>
          <a:blip r:embed="rId3"/>
          <a:stretch>
            <a:fillRect/>
          </a:stretch>
        </p:blipFill>
        <p:spPr>
          <a:xfrm>
            <a:off x="878487" y="1579273"/>
            <a:ext cx="5600972" cy="4192262"/>
          </a:xfrm>
          <a:prstGeom prst="rect">
            <a:avLst/>
          </a:prstGeom>
        </p:spPr>
      </p:pic>
    </p:spTree>
    <p:extLst>
      <p:ext uri="{BB962C8B-B14F-4D97-AF65-F5344CB8AC3E}">
        <p14:creationId xmlns:p14="http://schemas.microsoft.com/office/powerpoint/2010/main" val="1529241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68949F-8CF8-3EB6-2070-4D03A2722D00}"/>
              </a:ext>
            </a:extLst>
          </p:cNvPr>
          <p:cNvSpPr txBox="1"/>
          <p:nvPr/>
        </p:nvSpPr>
        <p:spPr>
          <a:xfrm>
            <a:off x="497840" y="384559"/>
            <a:ext cx="7914640" cy="369332"/>
          </a:xfrm>
          <a:prstGeom prst="rect">
            <a:avLst/>
          </a:prstGeom>
          <a:noFill/>
        </p:spPr>
        <p:txBody>
          <a:bodyPr wrap="square">
            <a:spAutoFit/>
          </a:bodyPr>
          <a:lstStyle/>
          <a:p>
            <a:r>
              <a:rPr lang="en-US" dirty="0"/>
              <a:t>6. What is the average number of leave days taken by employees per department?</a:t>
            </a:r>
            <a:endParaRPr lang="en-IN" dirty="0"/>
          </a:p>
        </p:txBody>
      </p:sp>
      <p:pic>
        <p:nvPicPr>
          <p:cNvPr id="7" name="Picture 6">
            <a:extLst>
              <a:ext uri="{FF2B5EF4-FFF2-40B4-BE49-F238E27FC236}">
                <a16:creationId xmlns:a16="http://schemas.microsoft.com/office/drawing/2014/main" id="{0CCA14B2-B949-724E-3D12-1B2A9FC7EC0E}"/>
              </a:ext>
            </a:extLst>
          </p:cNvPr>
          <p:cNvPicPr>
            <a:picLocks noChangeAspect="1"/>
          </p:cNvPicPr>
          <p:nvPr/>
        </p:nvPicPr>
        <p:blipFill>
          <a:blip r:embed="rId2"/>
          <a:stretch>
            <a:fillRect/>
          </a:stretch>
        </p:blipFill>
        <p:spPr>
          <a:xfrm>
            <a:off x="5544597" y="1871748"/>
            <a:ext cx="3647529" cy="2772121"/>
          </a:xfrm>
          <a:prstGeom prst="rect">
            <a:avLst/>
          </a:prstGeom>
        </p:spPr>
      </p:pic>
      <p:pic>
        <p:nvPicPr>
          <p:cNvPr id="4" name="Picture 3">
            <a:extLst>
              <a:ext uri="{FF2B5EF4-FFF2-40B4-BE49-F238E27FC236}">
                <a16:creationId xmlns:a16="http://schemas.microsoft.com/office/drawing/2014/main" id="{F8F18143-0868-EB94-FE03-78B24BBF2059}"/>
              </a:ext>
            </a:extLst>
          </p:cNvPr>
          <p:cNvPicPr>
            <a:picLocks noChangeAspect="1"/>
          </p:cNvPicPr>
          <p:nvPr/>
        </p:nvPicPr>
        <p:blipFill>
          <a:blip r:embed="rId3"/>
          <a:stretch>
            <a:fillRect/>
          </a:stretch>
        </p:blipFill>
        <p:spPr>
          <a:xfrm>
            <a:off x="818681" y="952974"/>
            <a:ext cx="3897697" cy="5154269"/>
          </a:xfrm>
          <a:prstGeom prst="rect">
            <a:avLst/>
          </a:prstGeom>
        </p:spPr>
      </p:pic>
    </p:spTree>
    <p:extLst>
      <p:ext uri="{BB962C8B-B14F-4D97-AF65-F5344CB8AC3E}">
        <p14:creationId xmlns:p14="http://schemas.microsoft.com/office/powerpoint/2010/main" val="397428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174EE0-05D8-E9E9-6ECF-864454080402}"/>
              </a:ext>
            </a:extLst>
          </p:cNvPr>
          <p:cNvSpPr txBox="1"/>
          <p:nvPr/>
        </p:nvSpPr>
        <p:spPr>
          <a:xfrm>
            <a:off x="372925" y="258268"/>
            <a:ext cx="6096000" cy="369332"/>
          </a:xfrm>
          <a:prstGeom prst="rect">
            <a:avLst/>
          </a:prstGeom>
          <a:noFill/>
        </p:spPr>
        <p:txBody>
          <a:bodyPr wrap="square">
            <a:spAutoFit/>
          </a:bodyPr>
          <a:lstStyle/>
          <a:p>
            <a:r>
              <a:rPr lang="en-US" dirty="0"/>
              <a:t>7. How do leave days correlate with payroll amounts?</a:t>
            </a:r>
            <a:endParaRPr lang="en-IN" dirty="0"/>
          </a:p>
        </p:txBody>
      </p:sp>
      <p:pic>
        <p:nvPicPr>
          <p:cNvPr id="8" name="Picture 7">
            <a:extLst>
              <a:ext uri="{FF2B5EF4-FFF2-40B4-BE49-F238E27FC236}">
                <a16:creationId xmlns:a16="http://schemas.microsoft.com/office/drawing/2014/main" id="{493AC15C-9C06-A267-88AA-B7A85A4D9181}"/>
              </a:ext>
            </a:extLst>
          </p:cNvPr>
          <p:cNvPicPr>
            <a:picLocks noChangeAspect="1"/>
          </p:cNvPicPr>
          <p:nvPr/>
        </p:nvPicPr>
        <p:blipFill>
          <a:blip r:embed="rId2"/>
          <a:stretch>
            <a:fillRect/>
          </a:stretch>
        </p:blipFill>
        <p:spPr>
          <a:xfrm>
            <a:off x="6386736" y="1547988"/>
            <a:ext cx="4920728" cy="2955186"/>
          </a:xfrm>
          <a:prstGeom prst="rect">
            <a:avLst/>
          </a:prstGeom>
        </p:spPr>
      </p:pic>
      <p:pic>
        <p:nvPicPr>
          <p:cNvPr id="5" name="Picture 4">
            <a:extLst>
              <a:ext uri="{FF2B5EF4-FFF2-40B4-BE49-F238E27FC236}">
                <a16:creationId xmlns:a16="http://schemas.microsoft.com/office/drawing/2014/main" id="{CAF6EF6A-2A6C-7850-2432-55893A77C4C6}"/>
              </a:ext>
            </a:extLst>
          </p:cNvPr>
          <p:cNvPicPr>
            <a:picLocks noChangeAspect="1"/>
          </p:cNvPicPr>
          <p:nvPr/>
        </p:nvPicPr>
        <p:blipFill>
          <a:blip r:embed="rId3"/>
          <a:stretch>
            <a:fillRect/>
          </a:stretch>
        </p:blipFill>
        <p:spPr>
          <a:xfrm>
            <a:off x="623860" y="627600"/>
            <a:ext cx="4920728" cy="5372850"/>
          </a:xfrm>
          <a:prstGeom prst="rect">
            <a:avLst/>
          </a:prstGeom>
        </p:spPr>
      </p:pic>
    </p:spTree>
    <p:extLst>
      <p:ext uri="{BB962C8B-B14F-4D97-AF65-F5344CB8AC3E}">
        <p14:creationId xmlns:p14="http://schemas.microsoft.com/office/powerpoint/2010/main" val="4045925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8B271D2-6B24-F041-B8D8-A19650F57742}"/>
              </a:ext>
            </a:extLst>
          </p:cNvPr>
          <p:cNvGraphicFramePr>
            <a:graphicFrameLocks noGrp="1"/>
          </p:cNvGraphicFramePr>
          <p:nvPr/>
        </p:nvGraphicFramePr>
        <p:xfrm>
          <a:off x="1096963" y="3674745"/>
          <a:ext cx="10058400" cy="365760"/>
        </p:xfrm>
        <a:graphic>
          <a:graphicData uri="http://schemas.openxmlformats.org/drawingml/2006/table">
            <a:tbl>
              <a:tblPr/>
              <a:tblGrid>
                <a:gridCol w="10058400">
                  <a:extLst>
                    <a:ext uri="{9D8B030D-6E8A-4147-A177-3AD203B41FA5}">
                      <a16:colId xmlns:a16="http://schemas.microsoft.com/office/drawing/2014/main" val="3622299209"/>
                    </a:ext>
                  </a:extLst>
                </a:gridCol>
              </a:tblGrid>
              <a:tr h="0">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326254319"/>
                  </a:ext>
                </a:extLst>
              </a:tr>
            </a:tbl>
          </a:graphicData>
        </a:graphic>
      </p:graphicFrame>
      <p:graphicFrame>
        <p:nvGraphicFramePr>
          <p:cNvPr id="3" name="Table 2">
            <a:extLst>
              <a:ext uri="{FF2B5EF4-FFF2-40B4-BE49-F238E27FC236}">
                <a16:creationId xmlns:a16="http://schemas.microsoft.com/office/drawing/2014/main" id="{8FE0ADC5-B9BF-C70D-BDE9-785D7FAF6B1B}"/>
              </a:ext>
            </a:extLst>
          </p:cNvPr>
          <p:cNvGraphicFramePr>
            <a:graphicFrameLocks noGrp="1"/>
          </p:cNvGraphicFramePr>
          <p:nvPr>
            <p:extLst>
              <p:ext uri="{D42A27DB-BD31-4B8C-83A1-F6EECF244321}">
                <p14:modId xmlns:p14="http://schemas.microsoft.com/office/powerpoint/2010/main" val="890082171"/>
              </p:ext>
            </p:extLst>
          </p:nvPr>
        </p:nvGraphicFramePr>
        <p:xfrm>
          <a:off x="761683" y="1058545"/>
          <a:ext cx="10058400" cy="365760"/>
        </p:xfrm>
        <a:graphic>
          <a:graphicData uri="http://schemas.openxmlformats.org/drawingml/2006/table">
            <a:tbl>
              <a:tblPr/>
              <a:tblGrid>
                <a:gridCol w="10058400">
                  <a:extLst>
                    <a:ext uri="{9D8B030D-6E8A-4147-A177-3AD203B41FA5}">
                      <a16:colId xmlns:a16="http://schemas.microsoft.com/office/drawing/2014/main" val="463178735"/>
                    </a:ext>
                  </a:extLst>
                </a:gridCol>
              </a:tblGrid>
              <a:tr h="0">
                <a:tc>
                  <a:txBody>
                    <a:bodyPr/>
                    <a:lstStyle/>
                    <a:p>
                      <a:pPr>
                        <a:buNone/>
                      </a:pPr>
                      <a:r>
                        <a:rPr lang="en-US" dirty="0"/>
                        <a:t>8. What is the average value of total_amount after considering leave deductions?</a:t>
                      </a:r>
                    </a:p>
                  </a:txBody>
                  <a:tcPr anchor="ctr">
                    <a:lnL>
                      <a:noFill/>
                    </a:lnL>
                    <a:lnR>
                      <a:noFill/>
                    </a:lnR>
                    <a:lnT>
                      <a:noFill/>
                    </a:lnT>
                    <a:lnB>
                      <a:noFill/>
                    </a:lnB>
                    <a:noFill/>
                  </a:tcPr>
                </a:tc>
                <a:extLst>
                  <a:ext uri="{0D108BD9-81ED-4DB2-BD59-A6C34878D82A}">
                    <a16:rowId xmlns:a16="http://schemas.microsoft.com/office/drawing/2014/main" val="2012733565"/>
                  </a:ext>
                </a:extLst>
              </a:tr>
            </a:tbl>
          </a:graphicData>
        </a:graphic>
      </p:graphicFrame>
      <p:pic>
        <p:nvPicPr>
          <p:cNvPr id="7" name="Picture 6">
            <a:extLst>
              <a:ext uri="{FF2B5EF4-FFF2-40B4-BE49-F238E27FC236}">
                <a16:creationId xmlns:a16="http://schemas.microsoft.com/office/drawing/2014/main" id="{BEE50B69-9031-7EAB-3919-A41182293771}"/>
              </a:ext>
            </a:extLst>
          </p:cNvPr>
          <p:cNvPicPr>
            <a:picLocks noChangeAspect="1"/>
          </p:cNvPicPr>
          <p:nvPr/>
        </p:nvPicPr>
        <p:blipFill>
          <a:blip r:embed="rId2"/>
          <a:stretch>
            <a:fillRect/>
          </a:stretch>
        </p:blipFill>
        <p:spPr>
          <a:xfrm>
            <a:off x="6420315" y="2945447"/>
            <a:ext cx="4214309" cy="1095057"/>
          </a:xfrm>
          <a:prstGeom prst="rect">
            <a:avLst/>
          </a:prstGeom>
        </p:spPr>
      </p:pic>
      <p:pic>
        <p:nvPicPr>
          <p:cNvPr id="6" name="Picture 5">
            <a:extLst>
              <a:ext uri="{FF2B5EF4-FFF2-40B4-BE49-F238E27FC236}">
                <a16:creationId xmlns:a16="http://schemas.microsoft.com/office/drawing/2014/main" id="{098BBB33-CD26-ED1F-272D-69B7307B116C}"/>
              </a:ext>
            </a:extLst>
          </p:cNvPr>
          <p:cNvPicPr>
            <a:picLocks noChangeAspect="1"/>
          </p:cNvPicPr>
          <p:nvPr/>
        </p:nvPicPr>
        <p:blipFill>
          <a:blip r:embed="rId3"/>
          <a:stretch>
            <a:fillRect/>
          </a:stretch>
        </p:blipFill>
        <p:spPr>
          <a:xfrm>
            <a:off x="558393" y="1778121"/>
            <a:ext cx="5213293" cy="3668950"/>
          </a:xfrm>
          <a:prstGeom prst="rect">
            <a:avLst/>
          </a:prstGeom>
        </p:spPr>
      </p:pic>
    </p:spTree>
    <p:extLst>
      <p:ext uri="{BB962C8B-B14F-4D97-AF65-F5344CB8AC3E}">
        <p14:creationId xmlns:p14="http://schemas.microsoft.com/office/powerpoint/2010/main" val="1566248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D035E9-7F28-2ED0-0C28-1354B31C6943}"/>
              </a:ext>
            </a:extLst>
          </p:cNvPr>
          <p:cNvSpPr txBox="1"/>
          <p:nvPr/>
        </p:nvSpPr>
        <p:spPr>
          <a:xfrm>
            <a:off x="568960" y="772726"/>
            <a:ext cx="11003280" cy="4493538"/>
          </a:xfrm>
          <a:prstGeom prst="rect">
            <a:avLst/>
          </a:prstGeom>
          <a:noFill/>
        </p:spPr>
        <p:txBody>
          <a:bodyPr wrap="square">
            <a:spAutoFit/>
          </a:bodyPr>
          <a:lstStyle/>
          <a:p>
            <a:pPr algn="ctr">
              <a:buNone/>
            </a:pPr>
            <a:r>
              <a:rPr lang="en-US" sz="4000" b="1" dirty="0">
                <a:solidFill>
                  <a:srgbClr val="FF0000"/>
                </a:solidFill>
              </a:rPr>
              <a:t>Key Insights</a:t>
            </a:r>
          </a:p>
          <a:p>
            <a:pPr algn="ctr">
              <a:buNone/>
            </a:pPr>
            <a:endParaRPr lang="en-US" sz="2400" b="1" dirty="0"/>
          </a:p>
          <a:p>
            <a:pPr marL="457200" indent="-457200" algn="ctr">
              <a:buFont typeface="+mj-lt"/>
              <a:buAutoNum type="arabicPeriod"/>
            </a:pPr>
            <a:endParaRPr lang="en-US" sz="2400" b="1" dirty="0"/>
          </a:p>
          <a:p>
            <a:pPr marL="342900" indent="-342900">
              <a:buFont typeface="+mj-lt"/>
              <a:buAutoNum type="arabicPeriod"/>
            </a:pPr>
            <a:r>
              <a:rPr lang="en-US" dirty="0"/>
              <a:t>Identified the </a:t>
            </a:r>
            <a:r>
              <a:rPr lang="en-US" b="1" dirty="0"/>
              <a:t>total number of unique employees</a:t>
            </a:r>
            <a:r>
              <a:rPr lang="en-US" dirty="0"/>
              <a:t> in the organization. </a:t>
            </a:r>
          </a:p>
          <a:p>
            <a:pPr marL="342900" indent="-342900">
              <a:buFont typeface="+mj-lt"/>
              <a:buAutoNum type="arabicPeriod"/>
            </a:pPr>
            <a:r>
              <a:rPr lang="en-US" dirty="0"/>
              <a:t>Analyzed </a:t>
            </a:r>
            <a:r>
              <a:rPr lang="en-US" b="1" dirty="0"/>
              <a:t>employee distribution across departments</a:t>
            </a:r>
            <a:r>
              <a:rPr lang="en-US" dirty="0"/>
              <a:t> to identify departments with higher workforce strength. </a:t>
            </a:r>
          </a:p>
          <a:p>
            <a:pPr marL="342900" indent="-342900">
              <a:buFont typeface="+mj-lt"/>
              <a:buAutoNum type="arabicPeriod"/>
            </a:pPr>
            <a:r>
              <a:rPr lang="en-US" dirty="0"/>
              <a:t>Compared </a:t>
            </a:r>
            <a:r>
              <a:rPr lang="en-US" b="1" dirty="0"/>
              <a:t>average salaries across departments</a:t>
            </a:r>
            <a:r>
              <a:rPr lang="en-US" dirty="0"/>
              <a:t> to understand compensation differences. </a:t>
            </a:r>
          </a:p>
          <a:p>
            <a:pPr marL="342900" indent="-342900">
              <a:buFont typeface="+mj-lt"/>
              <a:buAutoNum type="arabicPeriod"/>
            </a:pPr>
            <a:r>
              <a:rPr lang="en-US" dirty="0"/>
              <a:t>Identified the </a:t>
            </a:r>
            <a:r>
              <a:rPr lang="en-US" b="1" dirty="0"/>
              <a:t>highest-paid employees and job roles</a:t>
            </a:r>
            <a:r>
              <a:rPr lang="en-US" dirty="0"/>
              <a:t>, helping understand salary patterns. </a:t>
            </a:r>
          </a:p>
          <a:p>
            <a:pPr marL="342900" indent="-342900">
              <a:buFont typeface="+mj-lt"/>
              <a:buAutoNum type="arabicPeriod"/>
            </a:pPr>
            <a:r>
              <a:rPr lang="en-US" dirty="0"/>
              <a:t>Analyzed </a:t>
            </a:r>
            <a:r>
              <a:rPr lang="en-US" b="1" dirty="0"/>
              <a:t>qualification requirements</a:t>
            </a:r>
            <a:r>
              <a:rPr lang="en-US" dirty="0"/>
              <a:t> and identified positions requiring more qualifications. </a:t>
            </a:r>
          </a:p>
          <a:p>
            <a:pPr marL="342900" indent="-342900">
              <a:buFont typeface="+mj-lt"/>
              <a:buAutoNum type="arabicPeriod"/>
            </a:pPr>
            <a:r>
              <a:rPr lang="en-US" dirty="0"/>
              <a:t>Identified the </a:t>
            </a:r>
            <a:r>
              <a:rPr lang="en-US" b="1" dirty="0"/>
              <a:t>year with the highest number of employees taking leaves</a:t>
            </a:r>
            <a:r>
              <a:rPr lang="en-US" dirty="0"/>
              <a:t>, helping understand leave patterns. </a:t>
            </a:r>
          </a:p>
          <a:p>
            <a:pPr marL="342900" indent="-342900">
              <a:buFont typeface="+mj-lt"/>
              <a:buAutoNum type="arabicPeriod"/>
            </a:pPr>
            <a:r>
              <a:rPr lang="en-US" dirty="0"/>
              <a:t>Calculated the </a:t>
            </a:r>
            <a:r>
              <a:rPr lang="en-US" b="1" dirty="0"/>
              <a:t>average leave days by department</a:t>
            </a:r>
            <a:r>
              <a:rPr lang="en-US" dirty="0"/>
              <a:t> to compare employee absence patterns. </a:t>
            </a:r>
          </a:p>
          <a:p>
            <a:pPr marL="342900" indent="-342900">
              <a:buFont typeface="+mj-lt"/>
              <a:buAutoNum type="arabicPeriod"/>
            </a:pPr>
            <a:r>
              <a:rPr lang="en-US" dirty="0"/>
              <a:t>Analyzed </a:t>
            </a:r>
            <a:r>
              <a:rPr lang="en-US" b="1" dirty="0"/>
              <a:t>monthly payroll expenditure</a:t>
            </a:r>
            <a:r>
              <a:rPr lang="en-US" dirty="0"/>
              <a:t> to understand payroll trends over time. </a:t>
            </a:r>
          </a:p>
          <a:p>
            <a:pPr marL="342900" indent="-342900">
              <a:buFont typeface="+mj-lt"/>
              <a:buAutoNum type="arabicPeriod"/>
            </a:pPr>
            <a:r>
              <a:rPr lang="en-US" dirty="0"/>
              <a:t>Compared </a:t>
            </a:r>
            <a:r>
              <a:rPr lang="en-US" b="1" dirty="0"/>
              <a:t>bonus distribution across departments</a:t>
            </a:r>
            <a:r>
              <a:rPr lang="en-US" dirty="0"/>
              <a:t> to identify departments receiving higher bonuses. </a:t>
            </a:r>
          </a:p>
          <a:p>
            <a:pPr marL="342900" indent="-342900">
              <a:buFont typeface="+mj-lt"/>
              <a:buAutoNum type="arabicPeriod"/>
            </a:pPr>
            <a:r>
              <a:rPr lang="en-US" dirty="0"/>
              <a:t>Used the analysis to support </a:t>
            </a:r>
            <a:r>
              <a:rPr lang="en-US" b="1" dirty="0"/>
              <a:t>HR planning, workforce management, compensation decisions, and payroll monitoring</a:t>
            </a:r>
            <a:r>
              <a:rPr lang="en-US" dirty="0"/>
              <a:t>.</a:t>
            </a:r>
          </a:p>
        </p:txBody>
      </p:sp>
    </p:spTree>
    <p:extLst>
      <p:ext uri="{BB962C8B-B14F-4D97-AF65-F5344CB8AC3E}">
        <p14:creationId xmlns:p14="http://schemas.microsoft.com/office/powerpoint/2010/main" val="977643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58C7E4-FB34-D4D2-6E7F-23CF77BECE64}"/>
              </a:ext>
            </a:extLst>
          </p:cNvPr>
          <p:cNvSpPr txBox="1"/>
          <p:nvPr/>
        </p:nvSpPr>
        <p:spPr>
          <a:xfrm>
            <a:off x="640080" y="751344"/>
            <a:ext cx="10647680" cy="4647426"/>
          </a:xfrm>
          <a:prstGeom prst="rect">
            <a:avLst/>
          </a:prstGeom>
          <a:noFill/>
        </p:spPr>
        <p:txBody>
          <a:bodyPr wrap="square">
            <a:spAutoFit/>
          </a:bodyPr>
          <a:lstStyle/>
          <a:p>
            <a:pPr algn="ctr">
              <a:buNone/>
            </a:pPr>
            <a:r>
              <a:rPr lang="en-US" sz="4000" b="1" dirty="0">
                <a:solidFill>
                  <a:srgbClr val="FF0000"/>
                </a:solidFill>
              </a:rPr>
              <a:t>Recommendations</a:t>
            </a:r>
          </a:p>
          <a:p>
            <a:pPr algn="ctr">
              <a:buNone/>
            </a:pPr>
            <a:endParaRPr lang="en-US" sz="4000" b="1" dirty="0"/>
          </a:p>
          <a:p>
            <a:pPr marL="342900" indent="-342900">
              <a:buFont typeface="+mj-lt"/>
              <a:buAutoNum type="arabicPeriod"/>
            </a:pPr>
            <a:r>
              <a:rPr lang="en-US" b="1" dirty="0"/>
              <a:t>Workforce Planning:</a:t>
            </a:r>
            <a:r>
              <a:rPr lang="en-US" dirty="0"/>
              <a:t> Departments with higher employee counts can be monitored to ensure proper workload distribution and staffing. </a:t>
            </a:r>
          </a:p>
          <a:p>
            <a:pPr marL="342900" indent="-342900">
              <a:buFont typeface="+mj-lt"/>
              <a:buAutoNum type="arabicPeriod"/>
            </a:pPr>
            <a:r>
              <a:rPr lang="en-US" b="1" dirty="0"/>
              <a:t>Salary Review:</a:t>
            </a:r>
            <a:r>
              <a:rPr lang="en-US" dirty="0"/>
              <a:t> Salary differences across job roles and departments can be reviewed to maintain fair and competitive compensation. </a:t>
            </a:r>
          </a:p>
          <a:p>
            <a:pPr marL="342900" indent="-342900">
              <a:buFont typeface="+mj-lt"/>
              <a:buAutoNum type="arabicPeriod"/>
            </a:pPr>
            <a:r>
              <a:rPr lang="en-US" b="1" dirty="0"/>
              <a:t>Qualification Development:</a:t>
            </a:r>
            <a:r>
              <a:rPr lang="en-US" dirty="0"/>
              <a:t> Employees can be provided with relevant training and skill-development programs based on job requirements. </a:t>
            </a:r>
          </a:p>
          <a:p>
            <a:pPr marL="342900" indent="-342900">
              <a:buFont typeface="+mj-lt"/>
              <a:buAutoNum type="arabicPeriod"/>
            </a:pPr>
            <a:r>
              <a:rPr lang="en-US" b="1" dirty="0"/>
              <a:t>Leave Management:</a:t>
            </a:r>
            <a:r>
              <a:rPr lang="en-US" dirty="0"/>
              <a:t> Departments with higher leave patterns can be analyzed to understand absence trends and improve workforce planning. </a:t>
            </a:r>
          </a:p>
          <a:p>
            <a:pPr marL="342900" indent="-342900">
              <a:buFont typeface="+mj-lt"/>
              <a:buAutoNum type="arabicPeriod"/>
            </a:pPr>
            <a:r>
              <a:rPr lang="en-US" b="1" dirty="0"/>
              <a:t>Payroll Monitoring:</a:t>
            </a:r>
            <a:r>
              <a:rPr lang="en-US" dirty="0"/>
              <a:t> Monthly payroll can be regularly tracked to identify changes in payroll expenditure and maintain financial control. </a:t>
            </a:r>
          </a:p>
          <a:p>
            <a:pPr marL="342900" indent="-342900">
              <a:buFont typeface="+mj-lt"/>
              <a:buAutoNum type="arabicPeriod"/>
            </a:pPr>
            <a:r>
              <a:rPr lang="en-US" b="1" dirty="0"/>
              <a:t>Bonus Management:</a:t>
            </a:r>
            <a:r>
              <a:rPr lang="en-US" dirty="0"/>
              <a:t> Bonus allocation can be reviewed to ensure rewards are aligned with employee performance and organizational goals.</a:t>
            </a:r>
          </a:p>
        </p:txBody>
      </p:sp>
    </p:spTree>
    <p:extLst>
      <p:ext uri="{BB962C8B-B14F-4D97-AF65-F5344CB8AC3E}">
        <p14:creationId xmlns:p14="http://schemas.microsoft.com/office/powerpoint/2010/main" val="1528589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5495EE-B313-E927-6FC4-47197403790B}"/>
              </a:ext>
            </a:extLst>
          </p:cNvPr>
          <p:cNvSpPr txBox="1"/>
          <p:nvPr/>
        </p:nvSpPr>
        <p:spPr>
          <a:xfrm>
            <a:off x="579120" y="1168400"/>
            <a:ext cx="10617200" cy="3539430"/>
          </a:xfrm>
          <a:prstGeom prst="rect">
            <a:avLst/>
          </a:prstGeom>
          <a:noFill/>
        </p:spPr>
        <p:txBody>
          <a:bodyPr wrap="square">
            <a:spAutoFit/>
          </a:bodyPr>
          <a:lstStyle/>
          <a:p>
            <a:pPr algn="ctr">
              <a:buNone/>
            </a:pPr>
            <a:r>
              <a:rPr lang="en-US" sz="4000" b="1" dirty="0">
                <a:solidFill>
                  <a:srgbClr val="FF0000"/>
                </a:solidFill>
              </a:rPr>
              <a:t>Conclusion</a:t>
            </a:r>
          </a:p>
          <a:p>
            <a:pPr algn="ctr">
              <a:buNone/>
            </a:pPr>
            <a:endParaRPr lang="en-US" sz="4000" b="1" dirty="0"/>
          </a:p>
          <a:p>
            <a:pPr marL="342900" indent="-342900">
              <a:buFont typeface="+mj-lt"/>
              <a:buAutoNum type="arabicPeriod"/>
            </a:pPr>
            <a:r>
              <a:rPr lang="en-US" dirty="0"/>
              <a:t>The </a:t>
            </a:r>
            <a:r>
              <a:rPr lang="en-US" b="1" dirty="0"/>
              <a:t>Employee Management System</a:t>
            </a:r>
            <a:r>
              <a:rPr lang="en-US" dirty="0"/>
              <a:t> successfully demonstrates how SQL can be used to manage and analyze organizational data. The project connects employee, department, salary, qualification, leave, and payroll information through relational database design.</a:t>
            </a:r>
          </a:p>
          <a:p>
            <a:pPr marL="342900" indent="-342900">
              <a:buFont typeface="+mj-lt"/>
              <a:buAutoNum type="arabicPeriod"/>
            </a:pPr>
            <a:r>
              <a:rPr lang="en-US" dirty="0"/>
              <a:t>Using SQL queries, the project provides insights into </a:t>
            </a:r>
            <a:r>
              <a:rPr lang="en-US" b="1" dirty="0"/>
              <a:t>employee distribution, salaries, qualifications, leave patterns, payroll, and bonuses</a:t>
            </a:r>
            <a:r>
              <a:rPr lang="en-US" dirty="0"/>
              <a:t>. These insights can help HR and management make better </a:t>
            </a:r>
            <a:r>
              <a:rPr lang="en-US" b="1" dirty="0"/>
              <a:t>workforce, compensation, and payroll-related decisions</a:t>
            </a:r>
            <a:r>
              <a:rPr lang="en-US" dirty="0"/>
              <a:t>.</a:t>
            </a:r>
          </a:p>
          <a:p>
            <a:pPr marL="342900" indent="-342900">
              <a:buFont typeface="+mj-lt"/>
              <a:buAutoNum type="arabicPeriod"/>
            </a:pPr>
            <a:r>
              <a:rPr lang="en-US" dirty="0"/>
              <a:t>Overall, the project demonstrates the practical use of </a:t>
            </a:r>
            <a:r>
              <a:rPr lang="en-US" b="1" dirty="0"/>
              <a:t>SQL for data management, analysis, and business decision-making</a:t>
            </a:r>
            <a:endParaRPr lang="en-US" dirty="0"/>
          </a:p>
        </p:txBody>
      </p:sp>
    </p:spTree>
    <p:extLst>
      <p:ext uri="{BB962C8B-B14F-4D97-AF65-F5344CB8AC3E}">
        <p14:creationId xmlns:p14="http://schemas.microsoft.com/office/powerpoint/2010/main" val="2182207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07982C-DC0F-9DC8-D1A8-8DB93471C0C2}"/>
              </a:ext>
            </a:extLst>
          </p:cNvPr>
          <p:cNvSpPr txBox="1"/>
          <p:nvPr/>
        </p:nvSpPr>
        <p:spPr>
          <a:xfrm>
            <a:off x="1278193" y="2465750"/>
            <a:ext cx="9429135" cy="1446550"/>
          </a:xfrm>
          <a:prstGeom prst="rect">
            <a:avLst/>
          </a:prstGeom>
          <a:noFill/>
        </p:spPr>
        <p:txBody>
          <a:bodyPr wrap="square" rtlCol="0">
            <a:spAutoFit/>
          </a:bodyPr>
          <a:lstStyle/>
          <a:p>
            <a:pPr algn="ctr"/>
            <a:r>
              <a:rPr lang="en-US" sz="8800" dirty="0">
                <a:solidFill>
                  <a:srgbClr val="FF0000"/>
                </a:solidFill>
              </a:rPr>
              <a:t>Q &amp; A</a:t>
            </a:r>
            <a:endParaRPr lang="en-IN" sz="8800" dirty="0">
              <a:solidFill>
                <a:srgbClr val="FF0000"/>
              </a:solidFill>
            </a:endParaRPr>
          </a:p>
        </p:txBody>
      </p:sp>
    </p:spTree>
    <p:extLst>
      <p:ext uri="{BB962C8B-B14F-4D97-AF65-F5344CB8AC3E}">
        <p14:creationId xmlns:p14="http://schemas.microsoft.com/office/powerpoint/2010/main" val="1934094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570</TotalTime>
  <Words>1306</Words>
  <Application>Microsoft Office PowerPoint</Application>
  <PresentationFormat>Widescreen</PresentationFormat>
  <Paragraphs>193</Paragraphs>
  <Slides>25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Lato Black</vt:lpstr>
      <vt:lpstr>Libre Baskerville</vt:lpstr>
      <vt:lpstr>Calibri</vt:lpstr>
      <vt:lpstr>Arial</vt:lpstr>
      <vt:lpstr>Calibri Light</vt:lpstr>
      <vt:lpstr>Retrospect</vt:lpstr>
      <vt:lpstr>PowerPoint Presentation</vt:lpstr>
      <vt:lpstr>PowerPoint Presentation</vt:lpstr>
      <vt:lpstr>PowerPoint Presentation</vt:lpstr>
      <vt:lpstr>PowerPoint Presentation</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Cb Praneetha</cp:lastModifiedBy>
  <cp:revision>9</cp:revision>
  <dcterms:created xsi:type="dcterms:W3CDTF">2021-02-16T05:19:01Z</dcterms:created>
  <dcterms:modified xsi:type="dcterms:W3CDTF">2026-10-10T07:55:56Z</dcterms:modified>
</cp:coreProperties>
</file>